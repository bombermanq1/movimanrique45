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cano" userId="5e11086d978df543" providerId="LiveId" clId="{DD5CC5D6-CF1D-4263-BFC4-368E0B24DF3F}"/>
    <pc:docChg chg="custSel modSld">
      <pc:chgData name="matthew cano" userId="5e11086d978df543" providerId="LiveId" clId="{DD5CC5D6-CF1D-4263-BFC4-368E0B24DF3F}" dt="2026-10-17T03:39:41.329" v="1" actId="21"/>
      <pc:docMkLst>
        <pc:docMk/>
      </pc:docMkLst>
      <pc:sldChg chg="delSp mod">
        <pc:chgData name="matthew cano" userId="5e11086d978df543" providerId="LiveId" clId="{DD5CC5D6-CF1D-4263-BFC4-368E0B24DF3F}" dt="2026-10-17T03:39:41.329" v="1" actId="21"/>
        <pc:sldMkLst>
          <pc:docMk/>
          <pc:sldMk cId="1022883633" sldId="264"/>
        </pc:sldMkLst>
        <pc:spChg chg="del">
          <ac:chgData name="matthew cano" userId="5e11086d978df543" providerId="LiveId" clId="{DD5CC5D6-CF1D-4263-BFC4-368E0B24DF3F}" dt="2026-10-17T03:39:27.261" v="0" actId="21"/>
          <ac:spMkLst>
            <pc:docMk/>
            <pc:sldMk cId="1022883633" sldId="264"/>
            <ac:spMk id="9" creationId="{59164BF7-1782-4693-8C30-DA930895074F}"/>
          </ac:spMkLst>
        </pc:spChg>
        <pc:spChg chg="del">
          <ac:chgData name="matthew cano" userId="5e11086d978df543" providerId="LiveId" clId="{DD5CC5D6-CF1D-4263-BFC4-368E0B24DF3F}" dt="2026-10-17T03:39:41.329" v="1" actId="21"/>
          <ac:spMkLst>
            <pc:docMk/>
            <pc:sldMk cId="1022883633" sldId="264"/>
            <ac:spMk id="10" creationId="{7A1ED321-C97C-4550-BB2E-C48BFA9B0681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title>
      <c:tx>
        <c:rich>
          <a:bodyPr/>
          <a:lstStyle/>
          <a:p>
            <a:r>
              <a:rPr lang="es-MX"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Siniestros registrados por año en la Comuna 3 - Manrique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Siniestros</c:v>
          </c:tx>
          <c:spPr>
            <a:solidFill>
              <a:srgbClr val="2563E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General</c:formatCode>
              <c:ptCount val="7"/>
              <c:pt idx="0">
                <c:v>1524</c:v>
              </c:pt>
              <c:pt idx="1">
                <c:v>1142</c:v>
              </c:pt>
              <c:pt idx="2">
                <c:v>1413</c:v>
              </c:pt>
              <c:pt idx="3">
                <c:v>1317</c:v>
              </c:pt>
              <c:pt idx="4">
                <c:v>942</c:v>
              </c:pt>
              <c:pt idx="5">
                <c:v>849</c:v>
              </c:pt>
              <c:pt idx="6">
                <c:v>1145</c:v>
              </c:pt>
            </c:numLit>
          </c:val>
          <c:extLst>
            <c:ext xmlns:c16="http://schemas.microsoft.com/office/drawing/2014/chart" uri="{C3380CC4-5D6E-409C-BE32-E72D297353CC}">
              <c16:uniqueId val="{00000000-0963-4BC9-B8CC-F284A35585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O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CBD5E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O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reports/mapa_carrera45_manrique_definitiva.png; reports/geospatial/cierre_tecnico.md</a:t>
            </a:r>
          </a:p>
          <a:p>
            <a:r>
              <a:t>El eje definitivo contiene 26 segmentos y se limita al polígono oficial de Manrique.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reports/mapa_corredor_siniestros_carrera45_50m.png; reports/geospatial/cierre_tecnico.md</a:t>
            </a:r>
          </a:p>
          <a:p>
            <a:r>
              <a:t>La imagen presenta el corredor de 50 m recortado al límite oficial de Manrique.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README.md; reports/estado_mvp.md; reports/ia_exploratoria.md</a:t>
            </a:r>
          </a:p>
          <a:p>
            <a:r>
              <a:t>La plataforma no declara un modelo predictivo ni un informe Power BI nativo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web/data/dashboard.json; reports/geospatial/cierre_tecnico.md; src/geospatial/ids_cierre_v1.json</a:t>
            </a:r>
          </a:p>
          <a:p>
            <a:r>
              <a:t>La presentación diferencia la proximidad geométrica simple de la clasificación de cierre con IDs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reports/reporte_carrera45_manrique_definitiva.txt; reports/reporte_corredor_carrera45_50m.txt</a:t>
            </a:r>
          </a:p>
          <a:p>
            <a:r>
              <a:t>La metodología preserva las geometrías existentes y no conecta segmentos artificialmente.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web/data/dashboard.json; reports/geospatial/cierre_tecnico.md</a:t>
            </a:r>
          </a:p>
          <a:p>
            <a:r>
              <a:t>Serie anual calculada desde dashboard.json: 2019=1524, 2020=1142, 2021=1413, 2022=1317, 2023=942, 2024=849, 2025=1145.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web/index.html; web/data/dashboard.json; web/data/intervenciones.json; tests/test_dashboard_geovisor.py</a:t>
            </a:r>
          </a:p>
          <a:p>
            <a:r>
              <a:t>No se presenta esta lámina como una captura del dashboard. La imagen corresponde a un gráfico real del proyecto y las funciones descritas provienen de la interfaz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reports/geospatial/qgis_final_preview.png; web/data/intervenciones.json</a:t>
            </a:r>
          </a:p>
          <a:p>
            <a:r>
              <a:t>Las 12 zonas son exploratorias. No reemplazan una auditoría de seguridad vial ni una decisión 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web/data/intervenciones.json; reports/modulo_intervenciones_v1.md</a:t>
            </a:r>
          </a:p>
          <a:p>
            <a:r>
              <a:t>La tabla se deriva de los cinco mayores recuentos históricos por celda. Cada propuesta permanece pendiente de inspección.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reports/geospatial/cierre_tecnico.md; web/data/intervenciones.json; reports/modulo_intervenciones_v1.md</a:t>
            </a:r>
          </a:p>
          <a:p>
            <a:r>
              <a:t>La plataforma apoya la preparación de la inspección y no sustituye estudios técnicos, diseños, permisos ni decisiones institucionales.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FE3D229-75C4-49F7-9844-82A0DBC6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BB5565A-6F7D-43C5-8D46-E5A5CF6CE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1D264BF-4041-4770-BE11-BF312E20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6F3CA8-72C2-455C-9AF4-ECE88118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699CA1F-43D7-4B87-9F7B-170D0886D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4544BD1-01F7-45CD-B28B-7D9D6827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E094A7D-895A-4CBD-B800-D3090B452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B848914-3793-44BD-996E-C14B11C30C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A42CC9-5469-4A34-A17D-7180A722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E9B78F9-CE72-4A17-B476-A3022E5AE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0A0E0E1-7139-4230-B45E-00401FBC7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91" r="12891"/>
          <a:stretch>
            <a:fillRect/>
          </a:stretch>
        </p:blipFill>
        <p:spPr>
          <a:xfrm>
            <a:off x="7258050" y="0"/>
            <a:ext cx="4933950" cy="6858000"/>
          </a:xfrm>
          <a:prstGeom prst="roundRect">
            <a:avLst>
              <a:gd name="adj" fmla="val 2317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5DD2FE8-C741-418F-8446-9DC55A4B4FEC}"/>
              </a:ext>
            </a:extLst>
          </p:cNvPr>
          <p:cNvSpPr>
            <a:spLocks noGrp="1"/>
          </p:cNvSpPr>
          <p:nvPr/>
        </p:nvSpPr>
        <p:spPr>
          <a:xfrm>
            <a:off x="7000875" y="0"/>
            <a:ext cx="519112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2ADBAB5-76C0-4EC1-ABCE-BEBD4B503F4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2428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A235E7-0859-4E11-9B98-FD03174B49C6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56388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vial y accesibilidad en la Carrera 45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0B10202-2786-4850-BBC0-6A7393C732E3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533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9FB"/>
                </a:solidFill>
                <a:latin typeface="Arial"/>
                <a:ea typeface="Arial"/>
                <a:cs typeface="Arial"/>
              </a:rPr>
              <a:t>Comuna 3 - Manrique, Medellín</a:t>
            </a:r>
          </a:p>
          <a:p>
            <a: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9FB"/>
                </a:solidFill>
                <a:latin typeface="Arial"/>
                <a:ea typeface="Arial"/>
                <a:cs typeface="Arial"/>
              </a:rPr>
              <a:t>Información territorial para entender y revisar el corredor.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AB25B3-8AFE-48E3-8A5D-9182B538E20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B8A6"/>
                </a:solidFill>
                <a:latin typeface="Arial"/>
                <a:ea typeface="Arial"/>
                <a:cs typeface="Arial"/>
              </a:rPr>
              <a:t>Versión 3 | Información para la revisión de campo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30F907-5956-4777-8949-334B9FEDB25A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DDE9FB"/>
                </a:solidFill>
                <a:latin typeface="Arial"/>
                <a:ea typeface="Arial"/>
                <a:cs typeface="Arial"/>
              </a:rPr>
              <a:t>Base validada: 8.332 siniestros | 604 dentro del corredor de 50 m</a:t>
            </a:r>
          </a:p>
        </p:txBody>
      </p:sp>
    </p:spTree>
    <p:extLst>
      <p:ext uri="{BB962C8B-B14F-4D97-AF65-F5344CB8AC3E}">
        <p14:creationId xmlns:p14="http://schemas.microsoft.com/office/powerpoint/2010/main" val="1438620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BCC337DE-D5FC-4DF9-BA46-BF789F3CB355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325EE6-488B-46F8-B1A4-65C21376505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¿Qué estamos revisando?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A84990E-E3B9-437A-9F89-B3C4AC6E55C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corredor se delimitó con el límite oficial de Manrique y conserva los casos cercanos al borde.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C796AD-21D0-4277-9C4A-A8310083AEA5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A8F97A-0A82-4867-A5C7-9C42A9CCD2C5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Carrera 45 dentro de Manrique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0A3556-E26C-4BEA-9485-FBDE527A3C4F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La malla vial tenía una diferencia entre el CRS declarado y sus coordenadas. Se trató solo en memoria, sin cambiar la fuente original.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El eje se recortó con el límite oficial de la Comuna 3 - Manrique y conserva 26 segmentos, 33 partes y seis fragmentos menores de un metro.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El corredor de 50 m muestra cercanía al eje. No demuestra causalidad ni atribuye un siniestro a la vía.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4D23C7-E6BD-4D32-AC9B-C13FEB896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3380" y="1695450"/>
            <a:ext cx="405914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D7CC101-6D4D-4D2D-8A7A-83ABC48DA808}"/>
              </a:ext>
            </a:extLst>
          </p:cNvPr>
          <p:cNvSpPr>
            <a:spLocks noGrp="1"/>
          </p:cNvSpPr>
          <p:nvPr/>
        </p:nvSpPr>
        <p:spPr>
          <a:xfrm>
            <a:off x="5143500" y="6019800"/>
            <a:ext cx="533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Fuente: productos geoespaciales validados del proyecto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8CD7C-953C-4435-84AF-E3408BA006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92CEB6A-5C86-40E2-BD8F-43EE46EBABFE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F0F0BE7-B727-4C06-B339-E9A5786C70DC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957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C18187AD-10DF-48D6-9F21-84D1D035C6E3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E1FBAA-0E2D-4482-95DE-F73FC870705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¿Para qué sirve?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1E6918-7D72-4B40-988C-03BC41A1610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Una herramienta local para revisar registros históricos antes de pensar en posibles soluciones.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7EFB09-4E3B-4C32-8CBE-63CA3CC973F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77D08D-2E81-4291-967B-B8D521561003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66675" cy="26098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56B9DE-CA9B-4274-9F29-BC67002A71F6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5238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13D8F4-39B2-41E9-AF76-D53C497C8D8F}"/>
              </a:ext>
            </a:extLst>
          </p:cNvPr>
          <p:cNvSpPr>
            <a:spLocks noGrp="1"/>
          </p:cNvSpPr>
          <p:nvPr/>
        </p:nvSpPr>
        <p:spPr>
          <a:xfrm>
            <a:off x="895350" y="2867025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Territorio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D85E7F8-575F-415F-A173-17F5C225C767}"/>
              </a:ext>
            </a:extLst>
          </p:cNvPr>
          <p:cNvSpPr>
            <a:spLocks noGrp="1"/>
          </p:cNvSpPr>
          <p:nvPr/>
        </p:nvSpPr>
        <p:spPr>
          <a:xfrm>
            <a:off x="895350" y="346710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Ubicar la Carrera 45 dentro del territorio oficial de Manrique.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612AAE-520C-4C8B-B3EC-8303D5D660C6}"/>
              </a:ext>
            </a:extLst>
          </p:cNvPr>
          <p:cNvSpPr>
            <a:spLocks noGrp="1"/>
          </p:cNvSpPr>
          <p:nvPr/>
        </p:nvSpPr>
        <p:spPr>
          <a:xfrm>
            <a:off x="4295775" y="2152650"/>
            <a:ext cx="66675" cy="26098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0583A7-9DAD-4234-B15A-86D7A8D3A5EA}"/>
              </a:ext>
            </a:extLst>
          </p:cNvPr>
          <p:cNvSpPr>
            <a:spLocks noGrp="1"/>
          </p:cNvSpPr>
          <p:nvPr/>
        </p:nvSpPr>
        <p:spPr>
          <a:xfrm>
            <a:off x="4581525" y="2266950"/>
            <a:ext cx="5238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6A89FCF-E586-45A5-BDFA-2E59FF82F61E}"/>
              </a:ext>
            </a:extLst>
          </p:cNvPr>
          <p:cNvSpPr>
            <a:spLocks noGrp="1"/>
          </p:cNvSpPr>
          <p:nvPr/>
        </p:nvSpPr>
        <p:spPr>
          <a:xfrm>
            <a:off x="4581525" y="2867025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D0D8E0-C238-4CF4-ABB4-574238E870E3}"/>
              </a:ext>
            </a:extLst>
          </p:cNvPr>
          <p:cNvSpPr>
            <a:spLocks noGrp="1"/>
          </p:cNvSpPr>
          <p:nvPr/>
        </p:nvSpPr>
        <p:spPr>
          <a:xfrm>
            <a:off x="4581525" y="346710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Conservar datos, categorías y pruebas que permitan revisar el resultado.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72DDDB-E23E-4636-9871-4E3FB3DC34AE}"/>
              </a:ext>
            </a:extLst>
          </p:cNvPr>
          <p:cNvSpPr>
            <a:spLocks noGrp="1"/>
          </p:cNvSpPr>
          <p:nvPr/>
        </p:nvSpPr>
        <p:spPr>
          <a:xfrm>
            <a:off x="7981950" y="2152650"/>
            <a:ext cx="66675" cy="2609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B0F86A7-F24D-4589-BAAF-42DDE2336A00}"/>
              </a:ext>
            </a:extLst>
          </p:cNvPr>
          <p:cNvSpPr>
            <a:spLocks noGrp="1"/>
          </p:cNvSpPr>
          <p:nvPr/>
        </p:nvSpPr>
        <p:spPr>
          <a:xfrm>
            <a:off x="8267700" y="2266950"/>
            <a:ext cx="5238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CF2DC7A-EA2A-4982-9C0A-075CD0A1F719}"/>
              </a:ext>
            </a:extLst>
          </p:cNvPr>
          <p:cNvSpPr>
            <a:spLocks noGrp="1"/>
          </p:cNvSpPr>
          <p:nvPr/>
        </p:nvSpPr>
        <p:spPr>
          <a:xfrm>
            <a:off x="8267700" y="2867025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B58A896-04B9-4C43-B77D-AAE54F46CA78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Usar filtros, mapa y fichas de zonas sin convertirlos en decisiones de obra.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D0F1F95-06C7-457F-A726-3EA243A6430D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Alcance actual: análisis descriptivo y geoespacial. Power BI nativo y modelos predictivos no hacen parte de este cierre.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F48E885-4E89-49C5-856D-118387E574A4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AD52074-611F-4F58-86A8-0D697CAF703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3F22DA4-0D22-49AA-86E9-F5C923FA9076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775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6FA2078-5C53-44B8-8B5E-DF0D1B60DE9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CDFD8F2-093C-4C63-B297-5F52FD4F205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¿Con qué información trabajamos?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F1FE2DD-6158-41D0-9DA4-F05A40A9354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La vista web usa insumos validados y no modifica los archivos originales.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587DC1-D0E6-484D-917D-D434AE035449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045AFB5-9D66-42C0-A1EC-CA311702C220}"/>
              </a:ext>
            </a:extLst>
          </p:cNvPr>
          <p:cNvGraphicFramePr/>
          <p:nvPr/>
        </p:nvGraphicFramePr>
        <p:xfrm>
          <a:off x="609600" y="1952625"/>
          <a:ext cx="7239000" cy="2705100"/>
        </p:xfrm>
        <a:graphic>
          <a:graphicData uri="http://schemas.openxmlformats.org/drawingml/2006/table">
            <a:tbl>
              <a:tblPr firstRow="1" band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Fuente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 en el proyecto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validado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Siniestros viales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Puntos y atributos de Comuna 3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8.332 registros entre 2019 y 2025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Malla vial oficial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Eje definitivo de Carrera 45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26 segmentos | 1.698,67 m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Límite territorial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Recorte y control espacial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Comuna 3 - Manrique en EPSG:9377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Capas derivadas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Geovisor y zonas identificadas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439 celdas | 12 zonas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776185F-D42B-45A2-B43B-3449ED4830CA}"/>
              </a:ext>
            </a:extLst>
          </p:cNvPr>
          <p:cNvSpPr>
            <a:spLocks noGrp="1"/>
          </p:cNvSpPr>
          <p:nvPr/>
        </p:nvSpPr>
        <p:spPr>
          <a:xfrm>
            <a:off x="8248650" y="1952625"/>
            <a:ext cx="3333750" cy="2705100"/>
          </a:xfrm>
          <a:prstGeom prst="roundRect">
            <a:avLst>
              <a:gd name="adj" fmla="val 422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325A89-CB89-4F8C-948F-A6FD78DCBFFC}"/>
              </a:ext>
            </a:extLst>
          </p:cNvPr>
          <p:cNvSpPr>
            <a:spLocks noGrp="1"/>
          </p:cNvSpPr>
          <p:nvPr/>
        </p:nvSpPr>
        <p:spPr>
          <a:xfrm>
            <a:off x="8534400" y="22383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Cómo se organizan los registros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4B236AD-D2DE-424F-898E-B3D33EAF853C}"/>
              </a:ext>
            </a:extLst>
          </p:cNvPr>
          <p:cNvSpPr>
            <a:spLocks noGrp="1"/>
          </p:cNvSpPr>
          <p:nvPr/>
        </p:nvSpPr>
        <p:spPr>
          <a:xfrm>
            <a:off x="8534400" y="2752725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604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6C279F-F4C9-446B-BEDA-91481FC8D37E}"/>
              </a:ext>
            </a:extLst>
          </p:cNvPr>
          <p:cNvSpPr>
            <a:spLocks noGrp="1"/>
          </p:cNvSpPr>
          <p:nvPr/>
        </p:nvSpPr>
        <p:spPr>
          <a:xfrm>
            <a:off x="9696450" y="28194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dentro del corredor (50 m)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8D0BD6-7E93-4309-A0CD-A4CEF4242C61}"/>
              </a:ext>
            </a:extLst>
          </p:cNvPr>
          <p:cNvSpPr>
            <a:spLocks noGrp="1"/>
          </p:cNvSpPr>
          <p:nvPr/>
        </p:nvSpPr>
        <p:spPr>
          <a:xfrm>
            <a:off x="8534400" y="3333750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391667-50DA-40E3-AE58-EC9B7DE4F2F5}"/>
              </a:ext>
            </a:extLst>
          </p:cNvPr>
          <p:cNvSpPr>
            <a:spLocks noGrp="1"/>
          </p:cNvSpPr>
          <p:nvPr/>
        </p:nvSpPr>
        <p:spPr>
          <a:xfrm>
            <a:off x="9696450" y="3400425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cerca del límite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94201C1-2C38-4876-AEDA-E7EA2F87EA4F}"/>
              </a:ext>
            </a:extLst>
          </p:cNvPr>
          <p:cNvSpPr>
            <a:spLocks noGrp="1"/>
          </p:cNvSpPr>
          <p:nvPr/>
        </p:nvSpPr>
        <p:spPr>
          <a:xfrm>
            <a:off x="8534400" y="3914775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A3F3EC9-0938-4018-91E7-EF5DE64737E2}"/>
              </a:ext>
            </a:extLst>
          </p:cNvPr>
          <p:cNvSpPr>
            <a:spLocks noGrp="1"/>
          </p:cNvSpPr>
          <p:nvPr/>
        </p:nvSpPr>
        <p:spPr>
          <a:xfrm>
            <a:off x="9696450" y="39814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ubicación por revisar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ABAFE8F-03AA-4F1D-9532-BB0D4105E47E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3429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7684 otros registros de Manrique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C0DE1E-5D0D-48F4-AC8D-73FE316926F9}"/>
              </a:ext>
            </a:extLst>
          </p:cNvPr>
          <p:cNvSpPr>
            <a:spLocks noGrp="1"/>
          </p:cNvSpPr>
          <p:nvPr/>
        </p:nvSpPr>
        <p:spPr>
          <a:xfrm>
            <a:off x="3857625" y="52006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Los 644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casos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por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proximidad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geométrica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simple no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sustituyen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los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604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registros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del </a:t>
            </a:r>
            <a:r>
              <a:rPr sz="1200" b="1" dirty="0" err="1">
                <a:solidFill>
                  <a:srgbClr val="BE123C"/>
                </a:solidFill>
                <a:latin typeface="Arial"/>
                <a:ea typeface="Arial"/>
                <a:cs typeface="Arial"/>
              </a:rPr>
              <a:t>indicador</a:t>
            </a:r>
            <a:r>
              <a:rPr sz="1200" b="1" dirty="0">
                <a:solidFill>
                  <a:srgbClr val="BE123C"/>
                </a:solidFill>
                <a:latin typeface="Arial"/>
                <a:ea typeface="Arial"/>
                <a:cs typeface="Arial"/>
              </a:rPr>
              <a:t> principal.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50C471D-DB7B-4C37-BAD3-B69F23642665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629DEDE-92DC-4D40-8E64-CBB407CE5A3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5E3F3B-AE2F-4B28-B0FC-7284EF46DB31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6878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BCA5B622-0786-4C65-B3A9-5B316A090D3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94FDF68-1057-4409-A4C6-3688ADE121A4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Cómo se construyó el análisis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9AA3FB-6760-460B-ADD8-A59CE4421A0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Del dato original al geovisor, con reglas que se pueden revisar.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36664C-FF83-4DB6-A7C3-70DF62FA0575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790F63-88FB-4562-B117-5EA713077096}"/>
              </a:ext>
            </a:extLst>
          </p:cNvPr>
          <p:cNvSpPr>
            <a:spLocks noGrp="1"/>
          </p:cNvSpPr>
          <p:nvPr/>
        </p:nvSpPr>
        <p:spPr>
          <a:xfrm>
            <a:off x="523875" y="2571750"/>
            <a:ext cx="180975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4EA00A0-8158-449B-8A40-1524788B1FED}"/>
              </a:ext>
            </a:extLst>
          </p:cNvPr>
          <p:cNvSpPr>
            <a:spLocks noGrp="1"/>
          </p:cNvSpPr>
          <p:nvPr/>
        </p:nvSpPr>
        <p:spPr>
          <a:xfrm>
            <a:off x="523875" y="2114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9C28FB-0134-4AEC-BE14-20D32DAA87E8}"/>
              </a:ext>
            </a:extLst>
          </p:cNvPr>
          <p:cNvSpPr>
            <a:spLocks noGrp="1"/>
          </p:cNvSpPr>
          <p:nvPr/>
        </p:nvSpPr>
        <p:spPr>
          <a:xfrm>
            <a:off x="523875" y="2857500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0E4D59C-6676-4ED8-BD1D-3722E8B5514E}"/>
              </a:ext>
            </a:extLst>
          </p:cNvPr>
          <p:cNvSpPr>
            <a:spLocks noGrp="1"/>
          </p:cNvSpPr>
          <p:nvPr/>
        </p:nvSpPr>
        <p:spPr>
          <a:xfrm>
            <a:off x="523875" y="33432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Fuentes oficiales y copia original.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7BD41EE-16CF-46A4-8D0E-5073EFFECFBC}"/>
              </a:ext>
            </a:extLst>
          </p:cNvPr>
          <p:cNvSpPr>
            <a:spLocks noGrp="1"/>
          </p:cNvSpPr>
          <p:nvPr/>
        </p:nvSpPr>
        <p:spPr>
          <a:xfrm>
            <a:off x="2819400" y="2571750"/>
            <a:ext cx="1809750" cy="381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319208C-F86D-4351-B52A-8CCF5B4BC043}"/>
              </a:ext>
            </a:extLst>
          </p:cNvPr>
          <p:cNvSpPr>
            <a:spLocks noGrp="1"/>
          </p:cNvSpPr>
          <p:nvPr/>
        </p:nvSpPr>
        <p:spPr>
          <a:xfrm>
            <a:off x="2819400" y="2114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DBA65BF-59B6-4ED8-BB30-0FC6FF9626C6}"/>
              </a:ext>
            </a:extLst>
          </p:cNvPr>
          <p:cNvSpPr>
            <a:spLocks noGrp="1"/>
          </p:cNvSpPr>
          <p:nvPr/>
        </p:nvSpPr>
        <p:spPr>
          <a:xfrm>
            <a:off x="2819400" y="2857500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3AAF3AF-947C-4EEE-AF43-62DBCB41C7C5}"/>
              </a:ext>
            </a:extLst>
          </p:cNvPr>
          <p:cNvSpPr>
            <a:spLocks noGrp="1"/>
          </p:cNvSpPr>
          <p:nvPr/>
        </p:nvSpPr>
        <p:spPr>
          <a:xfrm>
            <a:off x="2819400" y="33432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CRS, atributos y geometrías.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79EF9D-0E01-4E67-91C3-3EB561812487}"/>
              </a:ext>
            </a:extLst>
          </p:cNvPr>
          <p:cNvSpPr>
            <a:spLocks noGrp="1"/>
          </p:cNvSpPr>
          <p:nvPr/>
        </p:nvSpPr>
        <p:spPr>
          <a:xfrm>
            <a:off x="5114925" y="2571750"/>
            <a:ext cx="180975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C910D1-0634-492F-A4B0-0548A826F548}"/>
              </a:ext>
            </a:extLst>
          </p:cNvPr>
          <p:cNvSpPr>
            <a:spLocks noGrp="1"/>
          </p:cNvSpPr>
          <p:nvPr/>
        </p:nvSpPr>
        <p:spPr>
          <a:xfrm>
            <a:off x="5114925" y="2114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CBAE868-21CD-44E3-B563-5159A0BF6BAA}"/>
              </a:ext>
            </a:extLst>
          </p:cNvPr>
          <p:cNvSpPr>
            <a:spLocks noGrp="1"/>
          </p:cNvSpPr>
          <p:nvPr/>
        </p:nvSpPr>
        <p:spPr>
          <a:xfrm>
            <a:off x="5114925" y="2857500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Territorio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FD2AA14-5035-4AC0-97F8-896F5BC89B59}"/>
              </a:ext>
            </a:extLst>
          </p:cNvPr>
          <p:cNvSpPr>
            <a:spLocks noGrp="1"/>
          </p:cNvSpPr>
          <p:nvPr/>
        </p:nvSpPr>
        <p:spPr>
          <a:xfrm>
            <a:off x="5114925" y="33432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Eje y corredor dentro de Manrique.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6B17C6E-3546-4EC1-B477-C90ED5774000}"/>
              </a:ext>
            </a:extLst>
          </p:cNvPr>
          <p:cNvSpPr>
            <a:spLocks noGrp="1"/>
          </p:cNvSpPr>
          <p:nvPr/>
        </p:nvSpPr>
        <p:spPr>
          <a:xfrm>
            <a:off x="7410450" y="2571750"/>
            <a:ext cx="180975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49588B6-B53A-45A2-BEE5-386907DFEB99}"/>
              </a:ext>
            </a:extLst>
          </p:cNvPr>
          <p:cNvSpPr>
            <a:spLocks noGrp="1"/>
          </p:cNvSpPr>
          <p:nvPr/>
        </p:nvSpPr>
        <p:spPr>
          <a:xfrm>
            <a:off x="7410450" y="2114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3F3CAF1-2667-4A58-8CD9-101862354392}"/>
              </a:ext>
            </a:extLst>
          </p:cNvPr>
          <p:cNvSpPr>
            <a:spLocks noGrp="1"/>
          </p:cNvSpPr>
          <p:nvPr/>
        </p:nvSpPr>
        <p:spPr>
          <a:xfrm>
            <a:off x="7410450" y="2857500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Clasificación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E2AF46C-E4DE-4010-B294-D22E6EDEF9CB}"/>
              </a:ext>
            </a:extLst>
          </p:cNvPr>
          <p:cNvSpPr>
            <a:spLocks noGrp="1"/>
          </p:cNvSpPr>
          <p:nvPr/>
        </p:nvSpPr>
        <p:spPr>
          <a:xfrm>
            <a:off x="7410450" y="33432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Registros dentro, cerca del límite y por revisar.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0B2FC9F-CBFD-4376-B634-37FDAACE81BE}"/>
              </a:ext>
            </a:extLst>
          </p:cNvPr>
          <p:cNvSpPr>
            <a:spLocks noGrp="1"/>
          </p:cNvSpPr>
          <p:nvPr/>
        </p:nvSpPr>
        <p:spPr>
          <a:xfrm>
            <a:off x="9705975" y="2571750"/>
            <a:ext cx="1809750" cy="381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371F03A-161F-4150-9835-1240AE528D26}"/>
              </a:ext>
            </a:extLst>
          </p:cNvPr>
          <p:cNvSpPr>
            <a:spLocks noGrp="1"/>
          </p:cNvSpPr>
          <p:nvPr/>
        </p:nvSpPr>
        <p:spPr>
          <a:xfrm>
            <a:off x="9705975" y="2114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351158A-D608-46AF-80E0-C89D490FB84F}"/>
              </a:ext>
            </a:extLst>
          </p:cNvPr>
          <p:cNvSpPr>
            <a:spLocks noGrp="1"/>
          </p:cNvSpPr>
          <p:nvPr/>
        </p:nvSpPr>
        <p:spPr>
          <a:xfrm>
            <a:off x="9705975" y="2857500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C4070DC-DDD1-43E4-B399-B24E727478B6}"/>
              </a:ext>
            </a:extLst>
          </p:cNvPr>
          <p:cNvSpPr>
            <a:spLocks noGrp="1"/>
          </p:cNvSpPr>
          <p:nvPr/>
        </p:nvSpPr>
        <p:spPr>
          <a:xfrm>
            <a:off x="9705975" y="33432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Dashboard, mapa y fichas de zonas.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1B497D3-F9A2-4D93-8918-2BEDBEF54B6A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Regla territorial: ninguna parte final del corredor queda fuera de la Comuna 3 - Manrique. Los vacíos entre segmentos no se rellenaron artificialmente.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6177EDB-12CF-473C-AABD-3FEE939038FA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2776E6A-873E-4F05-A117-9EE474906C60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82DC3B6-20FF-4998-8AC2-A5D4C0E8484D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756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5F0D30BE-A5E1-4491-899B-C21ED620C7D5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CDDC7B7-FC96-45E4-BB79-5F4363C4F44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¿Qué encontramos?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5C228E-A8EB-432C-8365-A5745C7E8C5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Los registros históricos ayudan a ver patrones; no miden por sí solos el riesgo vial.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2BD7079-701E-41E5-A97C-29A2744FC4B3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4C400CC-070C-4682-B18B-6A58B06E8D97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6953250" cy="405765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5A32D124-50AC-48F3-8A2D-7F8FDDAAC458}"/>
              </a:ext>
            </a:extLst>
          </p:cNvPr>
          <p:cNvGraphicFramePr/>
          <p:nvPr/>
        </p:nvGraphicFramePr>
        <p:xfrm>
          <a:off x="857250" y="2028825"/>
          <a:ext cx="647700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0AE57A3-9B51-46F0-869C-552EF869CEC5}"/>
              </a:ext>
            </a:extLst>
          </p:cNvPr>
          <p:cNvSpPr>
            <a:spLocks noGrp="1"/>
          </p:cNvSpPr>
          <p:nvPr/>
        </p:nvSpPr>
        <p:spPr>
          <a:xfrm>
            <a:off x="7953375" y="1743075"/>
            <a:ext cx="3629025" cy="4057650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F40D8B-70AA-451A-A42B-28275F80E7EB}"/>
              </a:ext>
            </a:extLst>
          </p:cNvPr>
          <p:cNvSpPr>
            <a:spLocks noGrp="1"/>
          </p:cNvSpPr>
          <p:nvPr/>
        </p:nvSpPr>
        <p:spPr>
          <a:xfrm>
            <a:off x="8239125" y="2066925"/>
            <a:ext cx="2571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Datos principales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00D3FF-3194-44CD-9DB4-BF60E93223A5}"/>
              </a:ext>
            </a:extLst>
          </p:cNvPr>
          <p:cNvSpPr>
            <a:spLocks noGrp="1"/>
          </p:cNvSpPr>
          <p:nvPr/>
        </p:nvSpPr>
        <p:spPr>
          <a:xfrm>
            <a:off x="8239125" y="2638425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8332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AF8A601-58A7-4925-9CB4-D20679AF2F5C}"/>
              </a:ext>
            </a:extLst>
          </p:cNvPr>
          <p:cNvSpPr>
            <a:spLocks noGrp="1"/>
          </p:cNvSpPr>
          <p:nvPr/>
        </p:nvSpPr>
        <p:spPr>
          <a:xfrm>
            <a:off x="9401175" y="27051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siniestros analizados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FCCBD29-72F1-457A-8324-E4C6469E0C38}"/>
              </a:ext>
            </a:extLst>
          </p:cNvPr>
          <p:cNvSpPr>
            <a:spLocks noGrp="1"/>
          </p:cNvSpPr>
          <p:nvPr/>
        </p:nvSpPr>
        <p:spPr>
          <a:xfrm>
            <a:off x="8239125" y="3257550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604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03FE06-B6CF-4404-8478-F5EB2E2AF871}"/>
              </a:ext>
            </a:extLst>
          </p:cNvPr>
          <p:cNvSpPr>
            <a:spLocks noGrp="1"/>
          </p:cNvSpPr>
          <p:nvPr/>
        </p:nvSpPr>
        <p:spPr>
          <a:xfrm>
            <a:off x="9401175" y="3324225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dentro del corredor (50 m)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BEFF30-F43B-428E-AB4C-93D8F99852EA}"/>
              </a:ext>
            </a:extLst>
          </p:cNvPr>
          <p:cNvSpPr>
            <a:spLocks noGrp="1"/>
          </p:cNvSpPr>
          <p:nvPr/>
        </p:nvSpPr>
        <p:spPr>
          <a:xfrm>
            <a:off x="8239125" y="3876675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439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68AC32-E21B-4D8E-8521-8A978DE8BA18}"/>
              </a:ext>
            </a:extLst>
          </p:cNvPr>
          <p:cNvSpPr>
            <a:spLocks noGrp="1"/>
          </p:cNvSpPr>
          <p:nvPr/>
        </p:nvSpPr>
        <p:spPr>
          <a:xfrm>
            <a:off x="9401175" y="39433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celdas con registros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EC7A16A-629C-4EC5-A762-44F937616B00}"/>
              </a:ext>
            </a:extLst>
          </p:cNvPr>
          <p:cNvSpPr>
            <a:spLocks noGrp="1"/>
          </p:cNvSpPr>
          <p:nvPr/>
        </p:nvSpPr>
        <p:spPr>
          <a:xfrm>
            <a:off x="8239125" y="4495800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82BAADE-E4C3-4984-98D6-3BD69411602F}"/>
              </a:ext>
            </a:extLst>
          </p:cNvPr>
          <p:cNvSpPr>
            <a:spLocks noGrp="1"/>
          </p:cNvSpPr>
          <p:nvPr/>
        </p:nvSpPr>
        <p:spPr>
          <a:xfrm>
            <a:off x="9401175" y="4562475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zonas identificadas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38CA479-96A8-4037-AE02-F860BD63613F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BBAE853-ADBF-4D7F-9119-9D413CB5FCD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5B5D9EE-E891-4532-927A-0F10D28C288B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119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E56AC6A-F371-4C29-A70B-08889BD09447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4AA50E-19A7-4575-8272-FC2F5FE3DD7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Consulta el dashboard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129181-AE32-405D-A7A9-E8D3DC0A852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Una vista local para filtrar datos, consultar indicadores y recorrer el mapa.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FE41B5-BC88-4740-B2FA-49EBC8E8F230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F58060-89B8-494A-AAF5-159915E7D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96193"/>
            <a:ext cx="5495925" cy="3322764"/>
          </a:xfrm>
          <a:prstGeom prst="roundRect">
            <a:avLst>
              <a:gd name="adj" fmla="val 3333"/>
            </a:avLst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B0A4097-1AEE-4F56-A278-D86890D1218F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Distribución de distancias usada como evidencia de apoyo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7A5F2A-109A-4C81-8996-A29E3DEB4688}"/>
              </a:ext>
            </a:extLst>
          </p:cNvPr>
          <p:cNvSpPr>
            <a:spLocks noGrp="1"/>
          </p:cNvSpPr>
          <p:nvPr/>
        </p:nvSpPr>
        <p:spPr>
          <a:xfrm>
            <a:off x="6667500" y="1914525"/>
            <a:ext cx="276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Qué puede consultar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F2AA332-44D5-4D85-836D-A34E36909174}"/>
              </a:ext>
            </a:extLst>
          </p:cNvPr>
          <p:cNvSpPr>
            <a:spLocks noGrp="1"/>
          </p:cNvSpPr>
          <p:nvPr/>
        </p:nvSpPr>
        <p:spPr>
          <a:xfrm>
            <a:off x="6667500" y="2466975"/>
            <a:ext cx="4381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Filtros por año, barrio, tipo, gravedad y ubicación frente al corredor.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Indicadores de 8.332, 604, 40 y 4 registros.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Gráficas por año, gravedad y tipo de siniestro.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Mapa con capas, desplazamiento, zoom y selección de zonas.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Fichas de zonas con estado inicial Pendiente de inspección.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7397C2D-5119-49BC-8A48-78DB6B9B486C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La interfaz funciona localmente y lee vistas derivadas. No requiere PostgreSQL, internet ni Power BI para la demostración.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60EC0C4-3C88-4623-9455-11BE38173E21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B7971C-0790-46DE-B144-C36A78AADDA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38A4B1-87A5-4A2D-9A19-AF3B8F79DA4F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343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F7983EB1-E395-4F4D-A03C-695E478FAA1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5121AD3-26BC-499F-B7D4-BB66F5D96D64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Zonas identificadas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311990-6B45-4A62-99E2-FB5EC27D837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mapa conecta el eje, los registros históricos y las 12 zonas que se pueden revisar.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351141-5F3B-45A7-B989-A37EC7EED2F2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A6393E-9848-4396-8EC8-3D4F11D98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8" y="1657350"/>
            <a:ext cx="419100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7396485-2FAD-46A3-B0B2-39D548F256BB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Vista de control geoespacial validada en QGIS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8AA61F2-0659-4082-8396-5063F8F824C6}"/>
              </a:ext>
            </a:extLst>
          </p:cNvPr>
          <p:cNvSpPr>
            <a:spLocks noGrp="1"/>
          </p:cNvSpPr>
          <p:nvPr/>
        </p:nvSpPr>
        <p:spPr>
          <a:xfrm>
            <a:off x="6057900" y="1933575"/>
            <a:ext cx="2571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Cómo leer las zonas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5F550C-D700-414B-B805-88CC54F1BBF6}"/>
              </a:ext>
            </a:extLst>
          </p:cNvPr>
          <p:cNvSpPr>
            <a:spLocks noGrp="1"/>
          </p:cNvSpPr>
          <p:nvPr/>
        </p:nvSpPr>
        <p:spPr>
          <a:xfrm>
            <a:off x="6057900" y="2466975"/>
            <a:ext cx="5000625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Cada zona muestra su identificador, ubicación, registros históricos, tipos y gravedad disponible.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Seleccionar una zona desde el mapa, el listado o la tabla abre la misma ficha y resalta su ubicación.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El orden usa solo el número histórico de registros de cada celda. No equivale a una tasa de riesgo ni a una prioridad institucional.</a:t>
            </a:r>
          </a:p>
          <a:p>
            <a:endParaRPr sz="120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La inspección de campo debe verificar velocidades, cruces, visibilidad, accesibilidad y flujos peatonales.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58FA89-7130-4537-9F17-F7AE71B7AEF9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E7BD21-D204-420F-99DC-4426640F8F3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C90984-CED7-4DE4-9301-1D9A85FD5358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013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2614D88-7CC1-43F9-A9BD-1A71E4065743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31393A-E04C-49A9-8FC6-835FDB3760C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Posibles soluciones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06B1D5-A929-46F7-BA98-9518730E896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módulo organiza registros históricos y opciones para evaluar, sin asignar obras ni costos por zona.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B981AA-E37D-4D48-836E-B89F657656B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54E0B7E-7FA4-4BAD-A6FE-F761E5E1AAC4}"/>
              </a:ext>
            </a:extLst>
          </p:cNvPr>
          <p:cNvGraphicFramePr/>
          <p:nvPr/>
        </p:nvGraphicFramePr>
        <p:xfrm>
          <a:off x="609600" y="1962150"/>
          <a:ext cx="7620000" cy="2733678"/>
        </p:xfrm>
        <a:graphic>
          <a:graphicData uri="http://schemas.openxmlformats.org/drawingml/2006/table">
            <a:tbl>
              <a:tblPr firstRow="1" band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Orden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Zona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Registros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Dentro del corredor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Tramos del eje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47175_22516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47177_22527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47174_22507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66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47173_22505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47175_22513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048F46D6-71CE-4F7D-83A0-1CEF28CB7801}"/>
              </a:ext>
            </a:extLst>
          </p:cNvPr>
          <p:cNvSpPr>
            <a:spLocks noGrp="1"/>
          </p:cNvSpPr>
          <p:nvPr/>
        </p:nvSpPr>
        <p:spPr>
          <a:xfrm>
            <a:off x="8715375" y="1990725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Opciones para evaluar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F64684-BE77-42CD-8EE2-55579F7D1C87}"/>
              </a:ext>
            </a:extLst>
          </p:cNvPr>
          <p:cNvSpPr>
            <a:spLocks noGrp="1"/>
          </p:cNvSpPr>
          <p:nvPr/>
        </p:nvSpPr>
        <p:spPr>
          <a:xfrm>
            <a:off x="8715375" y="2419350"/>
            <a:ext cx="2476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Pasos peatonales seguros, rampas y accesibilidad universal.</a:t>
            </a:r>
          </a:p>
          <a:p>
            <a:endParaRPr sz="1125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Reductores y control de velocidad.</a:t>
            </a:r>
          </a:p>
          <a:p>
            <a:endParaRPr sz="1125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Señalización, visibilidad y protección peatonal.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19E108-57A7-4589-AA9A-6491A8C54BAD}"/>
              </a:ext>
            </a:extLst>
          </p:cNvPr>
          <p:cNvSpPr>
            <a:spLocks noGrp="1"/>
          </p:cNvSpPr>
          <p:nvPr/>
        </p:nvSpPr>
        <p:spPr>
          <a:xfrm>
            <a:off x="8715375" y="40862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Estado de las 12 zonas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9A3CE2-C289-4310-87D7-F379174113D2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5CC21AC-D3BC-4DBD-BB52-DB1472B65FB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647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3D62E06-3EF3-408F-9C1D-C5AFD0F319DF}"/>
              </a:ext>
            </a:extLst>
          </p:cNvPr>
          <p:cNvSpPr>
            <a:spLocks noGrp="1"/>
          </p:cNvSpPr>
          <p:nvPr/>
        </p:nvSpPr>
        <p:spPr>
          <a:xfrm>
            <a:off x="11134725" y="6572250"/>
            <a:ext cx="447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288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75C6AA8-060D-4E9A-99F8-86611E7E280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sigue?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7A5FE2-3344-43E7-94FC-407A49995759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9FB"/>
                </a:solidFill>
                <a:latin typeface="Arial"/>
                <a:ea typeface="Arial"/>
                <a:cs typeface="Arial"/>
              </a:rPr>
              <a:t>MoviManrique45 deja una base verificable para entender y revisar la Carrera 45 dentro de la Comuna 3 - Manrique.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7A38FD-65E9-43FB-A471-57B457676F62}"/>
              </a:ext>
            </a:extLst>
          </p:cNvPr>
          <p:cNvSpPr>
            <a:spLocks noGrp="1"/>
          </p:cNvSpPr>
          <p:nvPr/>
        </p:nvSpPr>
        <p:spPr>
          <a:xfrm>
            <a:off x="638175" y="2476500"/>
            <a:ext cx="76200" cy="7048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0FFAF7-2119-42E8-8985-EE34DD1868DD}"/>
              </a:ext>
            </a:extLst>
          </p:cNvPr>
          <p:cNvSpPr>
            <a:spLocks noGrp="1"/>
          </p:cNvSpPr>
          <p:nvPr/>
        </p:nvSpPr>
        <p:spPr>
          <a:xfrm>
            <a:off x="971550" y="240982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consistentes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0CD945-5C8E-4DCE-B525-49ED570A223D}"/>
              </a:ext>
            </a:extLst>
          </p:cNvPr>
          <p:cNvSpPr>
            <a:spLocks noGrp="1"/>
          </p:cNvSpPr>
          <p:nvPr/>
        </p:nvSpPr>
        <p:spPr>
          <a:xfrm>
            <a:off x="4286250" y="2409825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DE9FB"/>
                </a:solidFill>
                <a:latin typeface="Arial"/>
                <a:ea typeface="Arial"/>
                <a:cs typeface="Arial"/>
              </a:rPr>
              <a:t>El cierre conserva 8.332 siniestros, 604 registros dentro del corredor y los casos cerca del límite o por revisar.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0B57599-CFB6-4093-90F5-8AD67257324B}"/>
              </a:ext>
            </a:extLst>
          </p:cNvPr>
          <p:cNvSpPr>
            <a:spLocks noGrp="1"/>
          </p:cNvSpPr>
          <p:nvPr/>
        </p:nvSpPr>
        <p:spPr>
          <a:xfrm>
            <a:off x="638175" y="3552825"/>
            <a:ext cx="76200" cy="7048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208E460-8BA1-427F-800D-042EFCDE5E8F}"/>
              </a:ext>
            </a:extLst>
          </p:cNvPr>
          <p:cNvSpPr>
            <a:spLocks noGrp="1"/>
          </p:cNvSpPr>
          <p:nvPr/>
        </p:nvSpPr>
        <p:spPr>
          <a:xfrm>
            <a:off x="971550" y="348615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Territorio claro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AA61EF-F17F-4A14-9D30-51E67F30CCF7}"/>
              </a:ext>
            </a:extLst>
          </p:cNvPr>
          <p:cNvSpPr>
            <a:spLocks noGrp="1"/>
          </p:cNvSpPr>
          <p:nvPr/>
        </p:nvSpPr>
        <p:spPr>
          <a:xfrm>
            <a:off x="4286250" y="34861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DE9FB"/>
                </a:solidFill>
                <a:latin typeface="Arial"/>
                <a:ea typeface="Arial"/>
                <a:cs typeface="Arial"/>
              </a:rPr>
              <a:t>El eje definitivo conserva 26 segmentos dentro de Manrique sin rellenar vacíos entre líneas.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FA5153-A816-48CA-BC69-E6474B5F3F3E}"/>
              </a:ext>
            </a:extLst>
          </p:cNvPr>
          <p:cNvSpPr>
            <a:spLocks noGrp="1"/>
          </p:cNvSpPr>
          <p:nvPr/>
        </p:nvSpPr>
        <p:spPr>
          <a:xfrm>
            <a:off x="638175" y="4629150"/>
            <a:ext cx="76200" cy="704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DA6C47-7BA1-4986-8D21-CEAAAE7C5BA1}"/>
              </a:ext>
            </a:extLst>
          </p:cNvPr>
          <p:cNvSpPr>
            <a:spLocks noGrp="1"/>
          </p:cNvSpPr>
          <p:nvPr/>
        </p:nvSpPr>
        <p:spPr>
          <a:xfrm>
            <a:off x="971550" y="456247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Revisión antes de intervenir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0092A0-FB54-4C40-971A-212872DD8CF2}"/>
              </a:ext>
            </a:extLst>
          </p:cNvPr>
          <p:cNvSpPr>
            <a:spLocks noGrp="1"/>
          </p:cNvSpPr>
          <p:nvPr/>
        </p:nvSpPr>
        <p:spPr>
          <a:xfrm>
            <a:off x="4286250" y="4562475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DE9FB"/>
                </a:solidFill>
                <a:latin typeface="Arial"/>
                <a:ea typeface="Arial"/>
                <a:cs typeface="Arial"/>
              </a:rPr>
              <a:t>Las 12 fichas muestran registros históricos y opciones para evaluar; todas siguen pendientes de inspección.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863D08B-196E-409B-BDCB-8D78809DF85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Siguiente paso: revisar en campo y evaluar con las entidades competentes antes de cualquier intervención física.</a:t>
            </a:r>
          </a:p>
        </p:txBody>
      </p:sp>
    </p:spTree>
    <p:extLst>
      <p:ext uri="{BB962C8B-B14F-4D97-AF65-F5344CB8AC3E}">
        <p14:creationId xmlns:p14="http://schemas.microsoft.com/office/powerpoint/2010/main" val="14551728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1434</Words>
  <Application>Microsoft Office PowerPoint</Application>
  <DocSecurity>0</DocSecurity>
  <PresentationFormat>Panorámica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matthew cano</cp:lastModifiedBy>
  <cp:revision>1</cp:revision>
  <dcterms:created xsi:type="dcterms:W3CDTF">2026-10-17T03:30:10Z</dcterms:created>
  <dcterms:modified xsi:type="dcterms:W3CDTF">2026-10-17T03:39:45Z</dcterms:modified>
</cp:coreProperties>
</file>