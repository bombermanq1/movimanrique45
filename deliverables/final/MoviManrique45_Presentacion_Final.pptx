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a6df4b61b44c9a" /><Relationship Type="http://schemas.openxmlformats.org/officeDocument/2006/relationships/extended-properties" Target="/docProps/app.xml" Id="Rd7d85fc34d6b45d9" /><Relationship Type="http://schemas.openxmlformats.org/officeDocument/2006/relationships/officeDocument" Target="/ppt/presentation.xml" Id="R87b93faba88e40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60b773e1c4ae9"/>
  </p:sldMasterIdLst>
  <p:notesMasterIdLst>
    <p:notesMasterId xmlns:r="http://schemas.openxmlformats.org/officeDocument/2006/relationships" r:id="R78be43f55714454c"/>
  </p:notesMasterIdLst>
  <p:sldIdLst>
    <p:sldId xmlns:r="http://schemas.openxmlformats.org/officeDocument/2006/relationships" id="256" r:id="Rb6062b5af3c9404f"/>
    <p:sldId xmlns:r="http://schemas.openxmlformats.org/officeDocument/2006/relationships" id="257" r:id="R9f2b58c4e475401a"/>
    <p:sldId xmlns:r="http://schemas.openxmlformats.org/officeDocument/2006/relationships" id="258" r:id="Rde33e32430b34d6f"/>
    <p:sldId xmlns:r="http://schemas.openxmlformats.org/officeDocument/2006/relationships" id="259" r:id="R61d37f24c0c04318"/>
    <p:sldId xmlns:r="http://schemas.openxmlformats.org/officeDocument/2006/relationships" id="260" r:id="Rf1af3747f7234d25"/>
    <p:sldId xmlns:r="http://schemas.openxmlformats.org/officeDocument/2006/relationships" id="261" r:id="R67a8185f764d4ef5"/>
    <p:sldId xmlns:r="http://schemas.openxmlformats.org/officeDocument/2006/relationships" id="262" r:id="R331a9650acf24835"/>
    <p:sldId xmlns:r="http://schemas.openxmlformats.org/officeDocument/2006/relationships" id="263" r:id="Rb4671a9c514c43b0"/>
    <p:sldId xmlns:r="http://schemas.openxmlformats.org/officeDocument/2006/relationships" id="264" r:id="R3f443d576ba148e8"/>
    <p:sldId xmlns:r="http://schemas.openxmlformats.org/officeDocument/2006/relationships" id="265" r:id="R0dcb7f3544474b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f389ffa8a54285" /><Relationship Type="http://schemas.openxmlformats.org/officeDocument/2006/relationships/slideMaster" Target="/ppt/slideMasters/slideMaster1.xml" Id="R1e860b773e1c4ae9" /><Relationship Type="http://schemas.openxmlformats.org/officeDocument/2006/relationships/notesMaster" Target="/ppt/notesMasters/notesMaster1.xml" Id="R78be43f55714454c" /><Relationship Type="http://schemas.openxmlformats.org/officeDocument/2006/relationships/presProps" Target="/ppt/presProps.xml" Id="R8835be71e16a4bf7" /><Relationship Type="http://schemas.openxmlformats.org/officeDocument/2006/relationships/tableStyles" Target="/ppt/tableStyles.xml" Id="Rc785fbe7c2e24f65" /><Relationship Type="http://schemas.openxmlformats.org/officeDocument/2006/relationships/slide" Target="/ppt/slides/slide1.xml" Id="Rb6062b5af3c9404f" /><Relationship Type="http://schemas.openxmlformats.org/officeDocument/2006/relationships/slide" Target="/ppt/slides/slide2.xml" Id="R9f2b58c4e475401a" /><Relationship Type="http://schemas.openxmlformats.org/officeDocument/2006/relationships/slide" Target="/ppt/slides/slide3.xml" Id="Rde33e32430b34d6f" /><Relationship Type="http://schemas.openxmlformats.org/officeDocument/2006/relationships/slide" Target="/ppt/slides/slide4.xml" Id="R61d37f24c0c04318" /><Relationship Type="http://schemas.openxmlformats.org/officeDocument/2006/relationships/slide" Target="/ppt/slides/slide5.xml" Id="Rf1af3747f7234d25" /><Relationship Type="http://schemas.openxmlformats.org/officeDocument/2006/relationships/slide" Target="/ppt/slides/slide6.xml" Id="R67a8185f764d4ef5" /><Relationship Type="http://schemas.openxmlformats.org/officeDocument/2006/relationships/slide" Target="/ppt/slides/slide7.xml" Id="R331a9650acf24835" /><Relationship Type="http://schemas.openxmlformats.org/officeDocument/2006/relationships/slide" Target="/ppt/slides/slide8.xml" Id="Rb4671a9c514c43b0" /><Relationship Type="http://schemas.openxmlformats.org/officeDocument/2006/relationships/slide" Target="/ppt/slides/slide9.xml" Id="R3f443d576ba148e8" /><Relationship Type="http://schemas.openxmlformats.org/officeDocument/2006/relationships/slide" Target="/ppt/slides/slide10.xml" Id="R0dcb7f3544474b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3c3af9fba747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69240d6d6c4371" /><Relationship Type="http://schemas.openxmlformats.org/officeDocument/2006/relationships/notesMaster" Target="/ppt/notesMasters/notesMaster1.xml" Id="R2bb8e88a17974c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639a5258614343" /><Relationship Type="http://schemas.openxmlformats.org/officeDocument/2006/relationships/notesMaster" Target="/ppt/notesMasters/notesMaster1.xml" Id="R23938ea461ca48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4e7706503f4ef4" /><Relationship Type="http://schemas.openxmlformats.org/officeDocument/2006/relationships/notesMaster" Target="/ppt/notesMasters/notesMaster1.xml" Id="R862bad9c38f94e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891e1ee3dc4c58" /><Relationship Type="http://schemas.openxmlformats.org/officeDocument/2006/relationships/notesMaster" Target="/ppt/notesMasters/notesMaster1.xml" Id="Ra700835099a149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2b62a5920845d7" /><Relationship Type="http://schemas.openxmlformats.org/officeDocument/2006/relationships/notesMaster" Target="/ppt/notesMasters/notesMaster1.xml" Id="R8391884a3cbd40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d6468048154ced" /><Relationship Type="http://schemas.openxmlformats.org/officeDocument/2006/relationships/notesMaster" Target="/ppt/notesMasters/notesMaster1.xml" Id="R59fc5ebd0a5d4e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ea553be8ce4401" /><Relationship Type="http://schemas.openxmlformats.org/officeDocument/2006/relationships/notesMaster" Target="/ppt/notesMasters/notesMaster1.xml" Id="R2d2ee005177f4c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75a2d256ca444e" /><Relationship Type="http://schemas.openxmlformats.org/officeDocument/2006/relationships/notesMaster" Target="/ppt/notesMasters/notesMaster1.xml" Id="R95ee265562c240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8015ef9b5b4b47" /><Relationship Type="http://schemas.openxmlformats.org/officeDocument/2006/relationships/notesMaster" Target="/ppt/notesMasters/notesMaster1.xml" Id="Rb627daafffcb4c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2152278b714fdd" /><Relationship Type="http://schemas.openxmlformats.org/officeDocument/2006/relationships/notesMaster" Target="/ppt/notesMasters/notesMaster1.xml" Id="Rdc69649d427049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reports/mapa_carrera45_manrique_definitiva.png</a:t>
            </a:r>
          </a:p>
          <a:p xmlns:a="http://schemas.openxmlformats.org/drawingml/2006/main">
            <a:r>
              <a:t>Eje definitivo previamente validado: 26 segmentos dentro del límite oficial de Manrique.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reports/mapa_corredor_siniestros_carrera45_50m.png; reports/geospatial/cierre_tecnico.md</a:t>
            </a:r>
          </a:p>
          <a:p xmlns:a="http://schemas.openxmlformats.org/drawingml/2006/main">
            <a:r>
              <a:t>El corredor de 50 m es una delimitación analítica, no una norma vial.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README.md; reports/geospatial/cierre_tecnico.md; reports/ia_exploratoria.md</a:t>
            </a:r>
          </a:p>
          <a:p xmlns:a="http://schemas.openxmlformats.org/drawingml/2006/main">
            <a:r>
              <a:t>El proyecto no presenta el análisis como un modelo predictivo.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src/geospatial/ids_cierre_v1.json; reports/geospatial/cierre_tecnico.md</a:t>
            </a:r>
          </a:p>
          <a:p xmlns:a="http://schemas.openxmlformats.org/drawingml/2006/main">
            <a:r>
              <a:t>El cierre distingue explícitamente 604 IDs oficiales de 644 casos de proximidad simple.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reports/reporte_corredor_carrera45_50m.txt; reports/geospatial/cierre_tecnico.md</a:t>
            </a:r>
          </a:p>
          <a:p xmlns:a="http://schemas.openxmlformats.org/drawingml/2006/main">
            <a:r>
              <a:t>La metodología preserva geometrías validadas y no rellena gaps artificialmente.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reports/analisis_espacial_siniestros.md; reports/geospatial/cierre_tecnico.md</a:t>
            </a:r>
          </a:p>
          <a:p xmlns:a="http://schemas.openxmlformats.org/drawingml/2006/main">
            <a:r>
              <a:t>Serie: 2019=1.524; 2020=1.142; 2021=1.413; 2022=1.317; 2023=942; 2024=849; 2025=1.145.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web/index.html; web/data/dashboard.json; tests/test_dashboard_geovisor.py</a:t>
            </a:r>
          </a:p>
          <a:p xmlns:a="http://schemas.openxmlformats.org/drawingml/2006/main">
            <a:r>
              <a:t>El gráfico mostrado proviene de reports/distribucion_distancias_siniestros_carrera45.png. La interfaz se verificó en navegador local; la lámina no se presenta como captura.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reports/geospatial/qgis_final_preview.png; reports/geospatial/cierre_tecnico.md</a:t>
            </a:r>
          </a:p>
          <a:p xmlns:a="http://schemas.openxmlformats.org/drawingml/2006/main">
            <a:r>
              <a:t>La vista QGIS es evidencia del análisis exploratorio; no se interpreta como pronóstico o causalidad.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deliverables/presupuesto_estimado.md; reports/recomendaciones_preliminares.md</a:t>
            </a:r>
          </a:p>
          <a:p xmlns:a="http://schemas.openxmlformats.org/drawingml/2006/main">
            <a:r>
              <a:t>La obra física no está incluida. Las recomendaciones requieren validación de campo.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deliverables/informe_validacion_mvp.md; reports/estado_mvp.md; reports/ia_exploratoria.md</a:t>
            </a:r>
          </a:p>
          <a:p xmlns:a="http://schemas.openxmlformats.org/drawingml/2006/main">
            <a:r>
              <a:t>El MVP está listo para demostración; Power BI e IA/ML mantienen un estado documentado sin sobredeclarar implementación.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c18e1715441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1a9855e834e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31f95370a45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aacb167244a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179dc28fc48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cdbfb86024d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AB4DE0-512C-4DCA-979A-D05766AF8D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3314BDF-17FF-4CEE-8960-15283AFE6B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01339C-422B-49C4-987A-A082834F40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CC864B-BB05-43A5-A85F-0506152621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95065A-2C85-4309-ABAA-EEEAD40A95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C851A9-1B46-45E7-8A59-E31DD15A57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3D0084-5D83-4C9C-8C15-90BB5E025C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39BF27-A70D-4E25-9354-B1A2489DF6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42552A-A1B6-4E3C-A7D3-A275425D61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60EBDA-863D-4EBD-85E2-40C0305562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63492391434206" /><Relationship Type="http://schemas.openxmlformats.org/officeDocument/2006/relationships/slideLayout" Target="/ppt/slideLayouts/slideLayout1.xml" Id="R4285af59bd6d441c" /><Relationship Type="http://schemas.openxmlformats.org/officeDocument/2006/relationships/slideLayout" Target="/ppt/slideLayouts/slideLayout2.xml" Id="Ree6fb2c77eb340ec" /><Relationship Type="http://schemas.openxmlformats.org/officeDocument/2006/relationships/slideLayout" Target="/ppt/slideLayouts/slideLayout3.xml" Id="R4f4f4b3b42a646be" /><Relationship Type="http://schemas.openxmlformats.org/officeDocument/2006/relationships/slideLayout" Target="/ppt/slideLayouts/slideLayout4.xml" Id="Rfd01df96a85d48ae" /><Relationship Type="http://schemas.openxmlformats.org/officeDocument/2006/relationships/slideLayout" Target="/ppt/slideLayouts/slideLayout5.xml" Id="R8656abbd6595419b" /><Relationship Type="http://schemas.openxmlformats.org/officeDocument/2006/relationships/slideLayout" Target="/ppt/slideLayouts/slideLayout6.xml" Id="Rca0ee43cc3b94b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85af59bd6d441c"/>
    <p:sldLayoutId xmlns:r="http://schemas.openxmlformats.org/officeDocument/2006/relationships" id="2147483650" r:id="Ree6fb2c77eb340ec"/>
    <p:sldLayoutId xmlns:r="http://schemas.openxmlformats.org/officeDocument/2006/relationships" id="2147483651" r:id="R4f4f4b3b42a646be"/>
    <p:sldLayoutId xmlns:r="http://schemas.openxmlformats.org/officeDocument/2006/relationships" id="2147483652" r:id="Rfd01df96a85d48ae"/>
    <p:sldLayoutId xmlns:r="http://schemas.openxmlformats.org/officeDocument/2006/relationships" id="2147483653" r:id="R8656abbd6595419b"/>
    <p:sldLayoutId xmlns:r="http://schemas.openxmlformats.org/officeDocument/2006/relationships" id="2147483654" r:id="Rca0ee43cc3b94b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e2f48f9f004bd5" /><Relationship Type="http://schemas.openxmlformats.org/officeDocument/2006/relationships/image" Target="/ppt/media/image.png" Id="R75a08f7174684d7a" /><Relationship Type="http://schemas.openxmlformats.org/officeDocument/2006/relationships/notesSlide" Target="/ppt/notesSlides/notesSlide1.xml" Id="R20955119471244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92305d4ddb4170" /><Relationship Type="http://schemas.openxmlformats.org/officeDocument/2006/relationships/image" Target="/ppt/media/image2.png" Id="R53b9b8b301c6455f" /><Relationship Type="http://schemas.openxmlformats.org/officeDocument/2006/relationships/notesSlide" Target="/ppt/notesSlides/notesSlide2.xml" Id="R99d741787a8646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fef51a67e4c79" /><Relationship Type="http://schemas.openxmlformats.org/officeDocument/2006/relationships/notesSlide" Target="/ppt/notesSlides/notesSlide3.xml" Id="R46323527b4e74c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7401456c5a4842" /><Relationship Type="http://schemas.openxmlformats.org/officeDocument/2006/relationships/notesSlide" Target="/ppt/notesSlides/notesSlide4.xml" Id="R370f9ba9f3a14b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239380947d44bb" /><Relationship Type="http://schemas.openxmlformats.org/officeDocument/2006/relationships/notesSlide" Target="/ppt/notesSlides/notesSlide5.xml" Id="R3a9de81b8d0c4b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b56b2261da499a" /><Relationship Type="http://schemas.openxmlformats.org/officeDocument/2006/relationships/chart" Target="/ppt/slides/charts/chart1.xml" Id="R05bd495d21ae4f0d" /><Relationship Type="http://schemas.openxmlformats.org/officeDocument/2006/relationships/notesSlide" Target="/ppt/notesSlides/notesSlide6.xml" Id="Ra1439e5412084e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6c796bc4724365" /><Relationship Type="http://schemas.openxmlformats.org/officeDocument/2006/relationships/image" Target="/ppt/media/image3.png" Id="R09df7d9ad34e47b8" /><Relationship Type="http://schemas.openxmlformats.org/officeDocument/2006/relationships/notesSlide" Target="/ppt/notesSlides/notesSlide7.xml" Id="R45d7348a466844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055a3ed254f92" /><Relationship Type="http://schemas.openxmlformats.org/officeDocument/2006/relationships/image" Target="/ppt/media/image4.png" Id="Rccc8346797dc4c2e" /><Relationship Type="http://schemas.openxmlformats.org/officeDocument/2006/relationships/notesSlide" Target="/ppt/notesSlides/notesSlide8.xml" Id="Re5027138dfbb4c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d1074ed11f4814" /><Relationship Type="http://schemas.openxmlformats.org/officeDocument/2006/relationships/notesSlide" Target="/ppt/notesSlides/notesSlide9.xml" Id="R9c5a1effdfec41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91437f1454f41" /><Relationship Type="http://schemas.openxmlformats.org/officeDocument/2006/relationships/notesSlide" Target="/ppt/notesSlides/notesSlide10.xml" Id="Ra4df960113084147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02A43"/>
                </a:solidFill>
              </a:rPr>
              <a:t>Siniestros por año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02A43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Siniestros</c:v>
          </c:tx>
          <c:spPr>
            <a:solidFill xmlns:a="http://schemas.openxmlformats.org/drawingml/2006/main">
              <a:srgbClr val="007C91"/>
            </a:solidFill>
          </c:spPr>
          <c:invertIfNegative val="0"/>
          <c:cat>
            <c:numLit>
              <c:formatCode>General</c:formatCode>
              <c:ptCount val="7"/>
              <c:pt idx="0">
                <c:v>2019</c:v>
              </c:pt>
              <c:pt idx="1">
                <c:v>2020</c:v>
              </c:pt>
              <c:pt idx="2">
                <c:v>2021</c:v>
              </c:pt>
              <c:pt idx="3">
                <c:v>2022</c:v>
              </c:pt>
              <c:pt idx="4">
                <c:v>2023</c:v>
              </c:pt>
              <c:pt idx="5">
                <c:v>2024</c:v>
              </c:pt>
              <c:pt idx="6">
                <c:v>2025</c:v>
              </c:pt>
            </c:numLit>
          </c:cat>
          <c:val>
            <c:numLit>
              <c:formatCode>General</c:formatCode>
              <c:ptCount val="7"/>
              <c:pt idx="0">
                <c:v>1524</c:v>
              </c:pt>
              <c:pt idx="1">
                <c:v>1142</c:v>
              </c:pt>
              <c:pt idx="2">
                <c:v>1413</c:v>
              </c:pt>
              <c:pt idx="3">
                <c:v>1317</c:v>
              </c:pt>
              <c:pt idx="4">
                <c:v>942</c:v>
              </c:pt>
              <c:pt idx="5">
                <c:v>849</c:v>
              </c:pt>
              <c:pt idx="6">
                <c:v>1145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102A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BCDF8-3D82-4F7D-A416-6C77936E37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08f7174684d7a"/>
          <a:srcRect xmlns:a="http://schemas.openxmlformats.org/drawingml/2006/main" l="9166" t="0" r="91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F5003-D40C-4EA6-A12A-2F48DC26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>
              <a:alpha val="7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52E3B-2B8A-42C4-A341-52230126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90D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90D9D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0D9DF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6CF90-AA68-4E1E-BA7C-5514FDC4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Seguridad vial y accesibilidad en Carrera 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1A1DB-20A6-4AD3-8778-40D6B46C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D9E9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D9E9EE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9E9EE"/>
                </a:solidFill>
                <a:latin typeface="Arial"/>
                <a:ea typeface="Arial"/>
                <a:cs typeface="Arial"/>
              </a:rPr>
              <a:t>Comuna 3 – Manrique, Medellín</a:t>
            </a:r>
          </a:p>
          <a:p xmlns:a="http://schemas.openxmlformats.org/drawingml/2006/main">
            <a:pPr>
              <a:defRPr sz="1500">
                <a:solidFill>
                  <a:srgbClr val="D9E9EE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9E9EE"/>
                </a:solidFill>
                <a:latin typeface="Arial"/>
                <a:ea typeface="Arial"/>
                <a:cs typeface="Arial"/>
              </a:rPr>
              <a:t>MVP de analítica territorial con evidencia geoespacial reproducible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DD1CC-9739-4181-A736-13701A8D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D9E9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D9E9E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D9E9EE"/>
                </a:solidFill>
                <a:latin typeface="Arial"/>
                <a:ea typeface="Arial"/>
                <a:cs typeface="Arial"/>
              </a:rPr>
              <a:t>Periodo analizado: 2019–2025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C27C8-E5DE-43F1-85BB-FC4DC88F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90D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90D9D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0D9DF"/>
                </a:solidFill>
                <a:latin typeface="Arial"/>
                <a:ea typeface="Arial"/>
                <a:cs typeface="Arial"/>
              </a:rPr>
              <a:t>Entrega final · 16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2021361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6A8BA-B6BE-4EE2-A292-E6BD5229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PROBLEMA TERRITORIAL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486C4-EB59-4E20-9F9E-012B2E73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análisis requiere un corredor definido por geometría, no solo por etiquetas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389A4-71B8-493A-B493-063D3FB3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El proyecto se limita exclusivamente a Comuna 3 – Manrique.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42790-31B3-4B91-842F-710E2D4A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42291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F6785-83B9-442D-BD90-CE58D8DC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Qué se resolvió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31678-24EF-4CE1-B8CC-6FBFD839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3352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Se validó el eje de Carrera 45 contra el límite oficial de Manrique.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Se preservaron 26 segmentos, 33 partes y seis fragmentos menores de un metro.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La proximidad al eje describe relación espacial; no demuestra causalidad.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22481-3AEF-4329-9545-8D34641A67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9b8b301c6455f"/>
          <a:stretch xmlns:a="http://schemas.openxmlformats.org/drawingml/2006/main"/>
        </p:blipFill>
        <p:spPr>
          <a:xfrm xmlns:a="http://schemas.openxmlformats.org/drawingml/2006/main">
            <a:off x="6258678" y="1647825"/>
            <a:ext cx="4151393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967B9-B13A-4E54-8EE9-776F8DE0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0388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Corredor analítico recortado al límite oficial de Manrique.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9F0BC-CF84-441C-8ACA-1F0F8DAB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7"/>
          </a:solidFill>
          <a:ln xmlns:a="http://schemas.openxmlformats.org/drawingml/2006/main" w="0">
            <a:solidFill>
              <a:srgbClr val="D8E2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95F48-8A6D-4141-BABE-299F2FD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MoviManrique45 · MVP académico y de portafolio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F18D7-2D31-4629-94DE-A65409CC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722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14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C5380-FFAE-437C-984F-E48ECF6A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46DF1-55CA-47A7-9878-7A7D45ED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Convertir datos abiertos en evidencia territorial revisable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96ABA-CD65-4A8B-8E6A-09DFEA5D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Un MVP para exploración, trazabilidad y comunicación de resultados.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41FEB-3BE0-437A-87A6-BB1F206C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2766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79B75-7798-466F-8A82-73761E4C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AD9F8-234F-4562-ABEC-39FD8DDD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Delimitar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4523E-D916-49CB-91FF-3A7F5D0B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609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6B"/>
                </a:solidFill>
                <a:latin typeface="Arial"/>
                <a:ea typeface="Arial"/>
                <a:cs typeface="Arial"/>
              </a:rPr>
              <a:t>Construir un eje de Carrera 45 limitado por el polígono oficial de Manrique.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FA018-DC54-4A32-9068-06FDA617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57400"/>
            <a:ext cx="32766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EBCCC-E414-4C9A-8661-3E2389CB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6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BAE87-7CFF-406D-811B-4FEC1FB1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908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Clasificar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9D2FF-31DC-45CB-92A3-1C8141BC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62350"/>
            <a:ext cx="2609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6B"/>
                </a:solidFill>
                <a:latin typeface="Arial"/>
                <a:ea typeface="Arial"/>
                <a:cs typeface="Arial"/>
              </a:rPr>
              <a:t>Separar corredor estricto, sensibilidad de borde, revisión territorial y resto.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A31A2-F015-4074-A02A-7EC4D25F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57400"/>
            <a:ext cx="32766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F9A77-097E-488E-ABA4-FE54C380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FEA40-CFE0-4C7F-8392-4D7E98C5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Explorar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F02E9-84EC-48B8-81F8-C609FA41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2609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Presentar resultados con dashboard, geovisor y documentación reproducible.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4554F-FD75-44DF-B741-FD8D4D2A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Alcance: analítica descriptiva y geoespacial. No se declara predicción, riesgo ni causalidad.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CC249-875D-458F-B748-103F0F1A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7"/>
          </a:solidFill>
          <a:ln xmlns:a="http://schemas.openxmlformats.org/drawingml/2006/main" w="0">
            <a:solidFill>
              <a:srgbClr val="D8E2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76C5F-9118-4BC7-BDF2-92493777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MoviManrique45 · MVP académico y de portafolio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26285-FAFB-45CA-8856-B5E0F9F1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722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8590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7387E-7534-4E1D-B487-1E281444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DATOS Y TRAZABILIDAD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3DF06-3279-4BED-A8AE-3AB77758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Fuentes oficiales, capas procesadas y controles de integridad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EA913-D444-4D66-9473-724009C0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Los archivos RAW no se modificaron durante el cierre.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0A923-9866-4685-BBDE-45CC97EDCE6E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6667500" cy="2667000"/>
        </p:xfrm>
        <a:graphic xmlns:a="http://schemas.openxmlformats.org/drawingml/2006/main">
          <a:graphicData uri="http://schemas.openxmlformats.org/drawingml/2006/table">
            <a:tbl>
              <a:tblPr firstRow="1" lastRow="0" bandRow="1"/>
              <a:tblGrid>
                <a:gridCol w="1809750"/>
                <a:gridCol w="2428875"/>
                <a:gridCol w="2428875"/>
              </a:tblGrid>
              <a:tr h="6667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Fuente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Uso validado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Siniestros viales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Puntos y atributos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8.332 registros de Comuna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Malla vial oficial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Eje Carrera 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26 segmentos; 1.698,67 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Límite territorial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Recorte espacial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Comuna 3 – Manrique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EB959-9A74-4971-978A-7F8CA2EC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57375"/>
            <a:ext cx="38862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261E8-804A-44BD-9C3F-CAA968EC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Controles congelados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72085-186C-4FE1-8BE3-982E0F2B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604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DA296-4E98-41EF-9BD7-60FA1A6E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90825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IDs oficiales del corredor estricto de 50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730FF-30FB-4A6A-9DE3-B4C70925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A43"/>
                </a:solidFill>
                <a:latin typeface="Arial"/>
                <a:ea typeface="Arial"/>
                <a:cs typeface="Arial"/>
              </a:rPr>
              <a:t>40 sensibilidad de borde · 4 revisión territorial · 7.684 restantes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FE5E7-413D-4DAE-AA13-21100AA9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44536"/>
                </a:solidFill>
                <a:latin typeface="Arial"/>
                <a:ea typeface="Arial"/>
                <a:cs typeface="Arial"/>
              </a:rPr>
              <a:t>No confundir: 644 casos de proximidad simple ≠ 604 siniestros oficiales.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0852D-67CF-438A-9404-114EC43F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7"/>
          </a:solidFill>
          <a:ln xmlns:a="http://schemas.openxmlformats.org/drawingml/2006/main" w="0">
            <a:solidFill>
              <a:srgbClr val="D8E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5B628-06FE-438A-9BCE-C9C16500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MoviManrique45 · MVP académico y de portafolio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B0EC1-8CAF-4ECB-AA80-AE67F0BD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722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6452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C324CE-055A-4984-9A33-A78EE9BD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METODOLOGÍA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50E66-7E3F-4753-B6AE-4AFF2E7B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 flujo reproducible: cargar → validar → recortar → clasificar → comunicar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3173C-B48E-4375-9742-AA7689CF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Cada resultado importante conserva evidencia y reglas explícitas.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AF73A-DF1F-4701-9C73-D50B31FA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2098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B8F38-FB7A-42E5-8068-7172A5BD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003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A3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A3B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A3B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4EDB9-5086-4124-A423-8CC70FC2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908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Ingesta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C6570-BCAD-4CB2-B624-079857A3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9567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Siniestros y capas territoriales oficiales.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8C14A-7E39-4DB9-BA8B-64914391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098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E6237-7E5A-4C02-B088-4EA9E72D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A3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A3B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A3B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889AF-1EC2-4F06-8872-9526BFC1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908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FD858-B5FE-4A72-8279-0438FC0C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9567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CRS, geometrías, atributos y calidad de datos.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E8A93-121F-4E88-9A2F-028E116E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098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7566E-AE7A-4A73-91FA-8321DE27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4003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A3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A3B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A3B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4063C-FD34-46C6-8FFD-548CE552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908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Eje vial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4FD7C-EE69-4C55-9997-B1D92518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49567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Carrera 45 recortada al límite oficial de Manrique.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6F579-04DD-4ADC-A64F-FBEE30FC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098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7E146-DB51-4F77-BC10-E391D872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03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A3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A3B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A3B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859A0-B7E8-4E7D-BC94-F4F4E620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Corredor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ED9DA-88F9-41EF-B348-5DD97ACF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9567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Buffer analítico de 50 m recortado territorialmente.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00454-A3D8-4A07-B21B-EFC04B0E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2098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CF39BC-ABF5-4B91-8953-80DE6B68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003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A3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A3B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A3B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132C2-BA8D-4562-9F11-2FFC7F38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908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51517-5EA4-489B-8BA8-0468C4CA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49567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Categorías exclusivas, pruebas, dashboard y documentos.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04223-2F99-4ABB-A4C8-3523D485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Criterio analítico: 50 m representa el entorno inmediato del eje; no es una norma de ingeniería vial.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9A3FE-8EAA-4D85-8903-B1A884A9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7"/>
          </a:solidFill>
          <a:ln xmlns:a="http://schemas.openxmlformats.org/drawingml/2006/main" w="0">
            <a:solidFill>
              <a:srgbClr val="D8E2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DFF6F2-57E7-4A9B-8D35-715EE10A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MoviManrique45 · MVP académico y de portafolio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31855-1581-4247-835E-DF0E6B9F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722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40972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DA7BA-0420-4885-BDC8-5D4DB03B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RESULTADOS DESCRIPTIVOS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89141-9702-48CD-9148-73575273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8.332 siniestros analizados: distribución temporal y resultados del 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1669E-59BF-447D-A147-58D8EC88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Gráfico editable construido con cifras verificadas.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8EF77-87AA-43E8-A165-C0B9108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858000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7FAB527-900B-47A6-9281-9A2D985CB328}"/>
              </a:ext>
            </a:extLst>
          </p:cNvPr>
          <p:cNvGraphicFramePr/>
          <p:nvPr/>
        </p:nvGraphicFramePr>
        <p:xfrm>
          <a:off xmlns:a="http://schemas.openxmlformats.org/drawingml/2006/main" x="838200" y="1905000"/>
          <a:ext xmlns:a="http://schemas.openxmlformats.org/drawingml/2006/main" cx="6477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bd495d21ae4f0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B8799-9E45-4D4C-AD64-5570A6F9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3676650" cy="4048125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6EFB7-4480-435B-9CCD-7F1FEEBC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7167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604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C4B75-E5A4-4FFC-9740-D1B9E607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38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corredor estricto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ED6DA-8B01-42DF-B15E-B091C2E0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C7AB8-85F3-4909-A036-64A9F82B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955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sensibilidad de borde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AEDF6-677E-4D0A-9ED7-57789248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676EE-F4F0-4675-B575-A932109B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52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revisión territorial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373BA-13B2-4559-8C64-80FAEE59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439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F4CBB-127E-47DC-A8BE-F3BE1EC2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100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celdas de concentración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79977-382D-4D1B-B1FA-E0674D8B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0057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000EF-3BD5-49B0-97FD-F97F8C0E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67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zonas prioritarias exploratorias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188E3-1996-46D0-AF98-08E62DAE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7"/>
          </a:solidFill>
          <a:ln xmlns:a="http://schemas.openxmlformats.org/drawingml/2006/main" w="0">
            <a:solidFill>
              <a:srgbClr val="D8E2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3D316-4DA2-4AD0-96FA-EDE2C123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MoviManrique45 · MVP académico y de portafolio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FDDF7-F6ED-42B1-B40B-F7D6AD99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722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349061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D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27AA8-5B2E-4FB8-B458-975B56DD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DASHBOARD WEB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F08EE-41B7-4E97-8F15-A61F762A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Interfaz verificable para filtros, indicadores y exploración espacial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D0B1F-9550-4C8E-899D-C6F606F5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Probada localmente en navegador con datos derivados del cierre geoespacial.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3B653-2447-469C-A8ED-AC749D1A0A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f7d9ad34e47b8"/>
          <a:stretch xmlns:a="http://schemas.openxmlformats.org/drawingml/2006/main"/>
        </p:blipFill>
        <p:spPr>
          <a:xfrm xmlns:a="http://schemas.openxmlformats.org/drawingml/2006/main">
            <a:off x="612793" y="1733550"/>
            <a:ext cx="5403815" cy="3267075"/>
          </a:xfrm>
          <a:prstGeom xmlns:a="http://schemas.openxmlformats.org/drawingml/2006/main" prst="roundRect">
            <a:avLst>
              <a:gd name="adj" fmla="val 349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ECDFA-2D57-40FC-9E7C-7A5D6F64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516255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F609F-EAAF-43E4-A8E6-8C4C0FF4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Funciones comprobadas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C1047-AECA-4020-AA49-2EB5A8DA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05075"/>
            <a:ext cx="4191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Filtros por año, barrio nominal y clasificación.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Indicadores oficiales: 8.332, 604, 40 y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Gráficas de evolución, gravedad y tipo de siniestro.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Geovisor SVG con zoom, desplazamiento, capas y consulta de zonas.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71BF3-4F5E-4A00-B8D5-89A6F071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Evidencia en navegador: HTTP 200; filtros, zoom, capas y consulta de zona verificados.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57A60-93A9-4D1E-88EA-04C44DFD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7"/>
          </a:solidFill>
          <a:ln xmlns:a="http://schemas.openxmlformats.org/drawingml/2006/main" w="0">
            <a:solidFill>
              <a:srgbClr val="D8E2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82B95-07C9-4E09-B397-573AD35E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MoviManrique45 · MVP académico y de portafolio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24309-5EE4-412E-B42A-038FEE8C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722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5198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5BADA-9651-4106-A975-7F1E39F5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GEOVISOR Y ANÁLISIS EXPLORATORIO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73BEE-7455-4A22-9C01-D9501C67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Concentraciones, zonas y eje vial como soporte para revisar el territorio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461A7-5ADA-437C-BCB8-E15D2D6C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Las zonas son exploratorias: no equivalen a un índice de riesgo ni a una recomendación causal.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AE491-74A3-49DF-825A-58F5D02FC4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8346797dc4c2e"/>
          <a:stretch xmlns:a="http://schemas.openxmlformats.org/drawingml/2006/main"/>
        </p:blipFill>
        <p:spPr>
          <a:xfrm xmlns:a="http://schemas.openxmlformats.org/drawingml/2006/main">
            <a:off x="928688" y="1619250"/>
            <a:ext cx="4238625" cy="4238625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31980-5FEC-431C-967F-B7C85990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76400"/>
            <a:ext cx="5619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B58E1-49AB-4AEF-93A5-94E7FEB5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Lectura responsable de las capas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60B4B-EEC8-4E0C-8D78-B7E8CF7B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572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439 celdas de concentración y 12 zonas prioritarias exploratorias.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El eje definitivo permanece limitado a Manrique; no incorpora territorio de Comuna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Los casos de borde y revisión quedan fuera del indicador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El resultado orienta revisión de campo; no reemplaza estudios de ingeniería.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4E582-D5A6-4CB1-8085-A31AB358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7"/>
          </a:solidFill>
          <a:ln xmlns:a="http://schemas.openxmlformats.org/drawingml/2006/main" w="0">
            <a:solidFill>
              <a:srgbClr val="D8E2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1FC54-972D-4CB3-8489-4194817E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MoviManrique45 · MVP académico y de portafolio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C4ACC-731E-4F82-915C-4535FDE3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722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33502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1D487-A615-4563-8AE4-1ECA79E1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PROPUESTAS Y PRESUPUESTO DE PLANEACIÓN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AC48-0B75-4CE5-9BEE-421C38F6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Piloto de seis meses: COP 300.300.000 sin obra física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D821E-FAED-47C5-992C-7A09E05D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Estimaciones de planeación; no son cotizaciones reales.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030BA-36C9-491B-94E8-D7F0165F3217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6477000" cy="3943350"/>
        </p:xfrm>
        <a:graphic xmlns:a="http://schemas.openxmlformats.org/drawingml/2006/main">
          <a:graphicData uri="http://schemas.openxmlformats.org/drawingml/2006/table">
            <a:tbl>
              <a:tblPr firstRow="1" lastRow="1" bandRow="1"/>
              <a:tblGrid>
                <a:gridCol w="4619625"/>
                <a:gridCol w="1857375"/>
              </a:tblGrid>
              <a:tr h="4381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Rubro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Dirección técnica y gestión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54.000.000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Ingeniería de datos y geoespacial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96.000.000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Diseño y visualización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35.000.000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Validación técnica y QA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22.000.000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Trabajo de campo y participación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48.000.000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Infraestructura y licencias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18.000.000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Contingencia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27.300.000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Total estimado sin obra física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D7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300.300.000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D7F0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8098D-579E-4BBA-843B-0D6F96F9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85925"/>
            <a:ext cx="4038600" cy="3914775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F9D58-716A-4046-A6DA-877F4AC1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97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Siguientes validaciones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813A3-11B8-4441-8E5A-6CA492B2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43175"/>
            <a:ext cx="3238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Validar en campo puntos críticos, velocidad, accesibilidad y cruces.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Priorizar calma de tráfico y seguridad peatonal con población mayor y personas con discapacidad.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Presupuestar intervenciones físicas solo tras diseño, permisos y contratación.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83D2E-A1FB-4EAD-AC56-6BD18F8B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7"/>
          </a:solidFill>
          <a:ln xmlns:a="http://schemas.openxmlformats.org/drawingml/2006/main" w="0">
            <a:solidFill>
              <a:srgbClr val="D8E2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C40FD-2865-4417-BD7A-BDC2B772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MoviManrique45 · MVP académico y de portafolio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713E0-DC93-412D-802C-7C6AEA61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722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007C9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7C9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177961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B3D8E-E777-4894-9120-22B17D1D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90D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90D9D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0D9DF"/>
                </a:solidFill>
                <a:latin typeface="Arial"/>
                <a:ea typeface="Arial"/>
                <a:cs typeface="Arial"/>
              </a:rPr>
              <a:t>CIERRE DEL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685DB-393F-49D2-AA1F-0CA57621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base geoespacial verificable para conversar sobre Carrera 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199A2-1EA2-4FA1-ABB2-097D7239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620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73B58"/>
          </a:solidFill>
          <a:ln xmlns:a="http://schemas.openxmlformats.org/drawingml/2006/main" w="9525">
            <a:solidFill>
              <a:srgbClr val="2C59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B0BE0-6C0A-4088-9467-DC6CC737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90D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90D9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0D9DF"/>
                </a:solidFill>
                <a:latin typeface="Arial"/>
                <a:ea typeface="Arial"/>
                <a:cs typeface="Arial"/>
              </a:rPr>
              <a:t>Listo para demostrar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43B70-9F89-43C2-A219-959F6606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33650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E7F3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E7F3F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E7F3F5"/>
                </a:solidFill>
                <a:latin typeface="Arial"/>
                <a:ea typeface="Arial"/>
                <a:cs typeface="Arial"/>
              </a:rPr>
              <a:t>Dashboard local, geovisor, datos íntegros, pruebas y documentos finales.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ED9E0-0718-41B0-869E-A086B010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620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73B58"/>
          </a:solidFill>
          <a:ln xmlns:a="http://schemas.openxmlformats.org/drawingml/2006/main" w="9525">
            <a:solidFill>
              <a:srgbClr val="2C59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8CAEC-42CC-4EBC-B022-0B898813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90D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90D9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0D9DF"/>
                </a:solidFill>
                <a:latin typeface="Arial"/>
                <a:ea typeface="Arial"/>
                <a:cs typeface="Arial"/>
              </a:rPr>
              <a:t>Límites explícitos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FA169-6710-42EA-B5AF-FCC80A35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00450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E7F3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E7F3F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E7F3F5"/>
                </a:solidFill>
                <a:latin typeface="Arial"/>
                <a:ea typeface="Arial"/>
                <a:cs typeface="Arial"/>
              </a:rPr>
              <a:t>No hay modelo predictivo, causalidad, índice de riesgo ni PBIX/PBIP validado.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62306-8935-4B98-A312-75639CDF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620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73B58"/>
          </a:solidFill>
          <a:ln xmlns:a="http://schemas.openxmlformats.org/drawingml/2006/main" w="9525">
            <a:solidFill>
              <a:srgbClr val="2C59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4324C-C290-4616-82D8-1521CDAD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90D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90D9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0D9DF"/>
                </a:solidFill>
                <a:latin typeface="Arial"/>
                <a:ea typeface="Arial"/>
                <a:cs typeface="Arial"/>
              </a:rPr>
              <a:t>Próximo paso responsable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1C3EC-AA3F-479B-A6D1-F84CF651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67250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E7F3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E7F3F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E7F3F5"/>
                </a:solidFill>
                <a:latin typeface="Arial"/>
                <a:ea typeface="Arial"/>
                <a:cs typeface="Arial"/>
              </a:rPr>
              <a:t>Validación de campo y revisión institucional antes de decisiones operativas.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DE0FE-FF09-4149-A5BF-4668C26D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D9E9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D9E9E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D9E9EE"/>
                </a:solidFill>
                <a:latin typeface="Arial"/>
                <a:ea typeface="Arial"/>
                <a:cs typeface="Arial"/>
              </a:rPr>
              <a:t>MoviManrique45 · evidencia territorial reproducible para análisis exploratorio</a:t>
            </a:r>
          </a:p>
        </p:txBody>
      </p:sp>
    </p:spTree>
    <p:extLst>
      <p:ext uri="{BB962C8B-B14F-4D97-AF65-F5344CB8AC3E}">
        <p14:creationId xmlns:p14="http://schemas.microsoft.com/office/powerpoint/2010/main" val="712210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2026-10-16T20:09:42.6730000Z</dcterms:created>
  <dcterms:modified xsi:type="dcterms:W3CDTF">2026-10-16T20:09:42.6730000Z</dcterms:modified>
</coreProperties>
</file>