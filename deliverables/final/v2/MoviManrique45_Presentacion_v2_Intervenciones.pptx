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ec71a2a4d249b6" /><Relationship Type="http://schemas.openxmlformats.org/officeDocument/2006/relationships/extended-properties" Target="/docProps/app.xml" Id="R6680c422455e4193" /><Relationship Type="http://schemas.openxmlformats.org/officeDocument/2006/relationships/officeDocument" Target="/ppt/presentation.xml" Id="Rfeea7be764d047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cf8c6a98f1460c"/>
  </p:sldMasterIdLst>
  <p:notesMasterIdLst>
    <p:notesMasterId xmlns:r="http://schemas.openxmlformats.org/officeDocument/2006/relationships" r:id="Rc299c1829d2e4677"/>
  </p:notesMasterIdLst>
  <p:sldIdLst>
    <p:sldId xmlns:r="http://schemas.openxmlformats.org/officeDocument/2006/relationships" id="256" r:id="Rfc6df4521bbf4981"/>
    <p:sldId xmlns:r="http://schemas.openxmlformats.org/officeDocument/2006/relationships" id="257" r:id="Rd0e1a709803842db"/>
    <p:sldId xmlns:r="http://schemas.openxmlformats.org/officeDocument/2006/relationships" id="258" r:id="Rb8c1449d53f74fb8"/>
    <p:sldId xmlns:r="http://schemas.openxmlformats.org/officeDocument/2006/relationships" id="259" r:id="R3a8eb66af09e47d3"/>
    <p:sldId xmlns:r="http://schemas.openxmlformats.org/officeDocument/2006/relationships" id="260" r:id="Ra2ffbcebf88f43c3"/>
    <p:sldId xmlns:r="http://schemas.openxmlformats.org/officeDocument/2006/relationships" id="261" r:id="Rfcd43e03d22848db"/>
    <p:sldId xmlns:r="http://schemas.openxmlformats.org/officeDocument/2006/relationships" id="262" r:id="Rb1b808187100448f"/>
    <p:sldId xmlns:r="http://schemas.openxmlformats.org/officeDocument/2006/relationships" id="263" r:id="R2d656b8dfc7749fd"/>
    <p:sldId xmlns:r="http://schemas.openxmlformats.org/officeDocument/2006/relationships" id="264" r:id="R5397505a0a1b4e04"/>
    <p:sldId xmlns:r="http://schemas.openxmlformats.org/officeDocument/2006/relationships" id="265" r:id="Rd24994fbff354b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5de69ad5b44c8b" /><Relationship Type="http://schemas.openxmlformats.org/officeDocument/2006/relationships/slideMaster" Target="/ppt/slideMasters/slideMaster1.xml" Id="R19cf8c6a98f1460c" /><Relationship Type="http://schemas.openxmlformats.org/officeDocument/2006/relationships/notesMaster" Target="/ppt/notesMasters/notesMaster1.xml" Id="Rc299c1829d2e4677" /><Relationship Type="http://schemas.openxmlformats.org/officeDocument/2006/relationships/presProps" Target="/ppt/presProps.xml" Id="R9824f84f4ca545b7" /><Relationship Type="http://schemas.openxmlformats.org/officeDocument/2006/relationships/tableStyles" Target="/ppt/tableStyles.xml" Id="Rb8cce5b80732454a" /><Relationship Type="http://schemas.openxmlformats.org/officeDocument/2006/relationships/slide" Target="/ppt/slides/slide1.xml" Id="Rfc6df4521bbf4981" /><Relationship Type="http://schemas.openxmlformats.org/officeDocument/2006/relationships/slide" Target="/ppt/slides/slide2.xml" Id="Rd0e1a709803842db" /><Relationship Type="http://schemas.openxmlformats.org/officeDocument/2006/relationships/slide" Target="/ppt/slides/slide3.xml" Id="Rb8c1449d53f74fb8" /><Relationship Type="http://schemas.openxmlformats.org/officeDocument/2006/relationships/slide" Target="/ppt/slides/slide4.xml" Id="R3a8eb66af09e47d3" /><Relationship Type="http://schemas.openxmlformats.org/officeDocument/2006/relationships/slide" Target="/ppt/slides/slide5.xml" Id="Ra2ffbcebf88f43c3" /><Relationship Type="http://schemas.openxmlformats.org/officeDocument/2006/relationships/slide" Target="/ppt/slides/slide6.xml" Id="Rfcd43e03d22848db" /><Relationship Type="http://schemas.openxmlformats.org/officeDocument/2006/relationships/slide" Target="/ppt/slides/slide7.xml" Id="Rb1b808187100448f" /><Relationship Type="http://schemas.openxmlformats.org/officeDocument/2006/relationships/slide" Target="/ppt/slides/slide8.xml" Id="R2d656b8dfc7749fd" /><Relationship Type="http://schemas.openxmlformats.org/officeDocument/2006/relationships/slide" Target="/ppt/slides/slide9.xml" Id="R5397505a0a1b4e04" /><Relationship Type="http://schemas.openxmlformats.org/officeDocument/2006/relationships/slide" Target="/ppt/slides/slide10.xml" Id="Rd24994fbff354b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d40b6d11b746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49389f684d4eab" /><Relationship Type="http://schemas.openxmlformats.org/officeDocument/2006/relationships/notesMaster" Target="/ppt/notesMasters/notesMaster1.xml" Id="R51cdc5bef43f4a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331a73db9544c5" /><Relationship Type="http://schemas.openxmlformats.org/officeDocument/2006/relationships/notesMaster" Target="/ppt/notesMasters/notesMaster1.xml" Id="R0b7dd23bd77c4b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8525530b2047e5" /><Relationship Type="http://schemas.openxmlformats.org/officeDocument/2006/relationships/notesMaster" Target="/ppt/notesMasters/notesMaster1.xml" Id="Rd8771d4f1c3b40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be04e206d84429" /><Relationship Type="http://schemas.openxmlformats.org/officeDocument/2006/relationships/notesMaster" Target="/ppt/notesMasters/notesMaster1.xml" Id="R58284f9de06845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3800826afd4f48" /><Relationship Type="http://schemas.openxmlformats.org/officeDocument/2006/relationships/notesMaster" Target="/ppt/notesMasters/notesMaster1.xml" Id="R260ed79869b540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f43d1452dd4b65" /><Relationship Type="http://schemas.openxmlformats.org/officeDocument/2006/relationships/notesMaster" Target="/ppt/notesMasters/notesMaster1.xml" Id="Rb7c40f73f91f47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a850a2c2d34a92" /><Relationship Type="http://schemas.openxmlformats.org/officeDocument/2006/relationships/notesMaster" Target="/ppt/notesMasters/notesMaster1.xml" Id="Rb7139d80851049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57e811604143bd" /><Relationship Type="http://schemas.openxmlformats.org/officeDocument/2006/relationships/notesMaster" Target="/ppt/notesMasters/notesMaster1.xml" Id="R03a73cbd816b4b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2d22c6214c4eef" /><Relationship Type="http://schemas.openxmlformats.org/officeDocument/2006/relationships/notesMaster" Target="/ppt/notesMasters/notesMaster1.xml" Id="R74c7c312ddcf49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6e497679e64270" /><Relationship Type="http://schemas.openxmlformats.org/officeDocument/2006/relationships/notesMaster" Target="/ppt/notesMasters/notesMaster1.xml" Id="R9b49eb119f944a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reports/mapa_carrera45_manrique_definitiva.png; reports/geospatial/cierre_tecnico.md</a:t>
            </a:r>
          </a:p>
          <a:p xmlns:a="http://schemas.openxmlformats.org/drawingml/2006/main">
            <a:r>
              <a:t>El eje definitivo contiene 26 segmentos y se limita al polígono oficial de Manrique.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reports/mapa_corredor_siniestros_carrera45_50m.png; reports/geospatial/cierre_tecnico.md</a:t>
            </a:r>
          </a:p>
          <a:p xmlns:a="http://schemas.openxmlformats.org/drawingml/2006/main">
            <a:r>
              <a:t>La imagen presenta el corredor de 50 m recortado al límite oficial de Manrique.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README.md; reports/estado_mvp.md; reports/ia_exploratoria.md</a:t>
            </a:r>
          </a:p>
          <a:p xmlns:a="http://schemas.openxmlformats.org/drawingml/2006/main">
            <a:r>
              <a:t>La plataforma no declara un modelo predictivo ni un informe Power BI nativo validado.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web/data/dashboard.json; reports/geospatial/cierre_tecnico.md; src/geospatial/ids_cierre_v1.json</a:t>
            </a:r>
          </a:p>
          <a:p xmlns:a="http://schemas.openxmlformats.org/drawingml/2006/main">
            <a:r>
              <a:t>La presentación diferencia la proximidad geométrica simple de la clasificación de cierre con IDs oficiales.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reports/reporte_carrera45_manrique_definitiva.txt; reports/reporte_corredor_carrera45_50m.txt</a:t>
            </a:r>
          </a:p>
          <a:p xmlns:a="http://schemas.openxmlformats.org/drawingml/2006/main">
            <a:r>
              <a:t>La metodología preserva las geometrías existentes y no conecta segmentos artificialmente.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web/data/dashboard.json; reports/geospatial/cierre_tecnico.md</a:t>
            </a:r>
          </a:p>
          <a:p xmlns:a="http://schemas.openxmlformats.org/drawingml/2006/main">
            <a:r>
              <a:t>Serie anual calculada desde dashboard.json: 2019=1524, 2020=1142, 2021=1413, 2022=1317, 2023=942, 2024=849, 2025=1145.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web/index.html; web/data/dashboard.json; web/data/intervenciones.json; tests/test_dashboard_geovisor.py</a:t>
            </a:r>
          </a:p>
          <a:p xmlns:a="http://schemas.openxmlformats.org/drawingml/2006/main">
            <a:r>
              <a:t>No se presenta esta lámina como una captura del dashboard. La imagen corresponde a un gráfico real del proyecto y las funciones descritas provienen de la interfaz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reports/geospatial/qgis_final_preview.png; web/data/intervenciones.json</a:t>
            </a:r>
          </a:p>
          <a:p xmlns:a="http://schemas.openxmlformats.org/drawingml/2006/main">
            <a:r>
              <a:t>Las 12 zonas son exploratorias. No reemplazan una auditoría de seguridad vial ni una decisión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web/data/intervenciones.json; reports/modulo_intervenciones_v1.md</a:t>
            </a:r>
          </a:p>
          <a:p xmlns:a="http://schemas.openxmlformats.org/drawingml/2006/main">
            <a:r>
              <a:t>La tabla se deriva de los cinco mayores recuentos históricos por celda. Cada propuesta permanece pendiente de inspección.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reports/geospatial/cierre_tecnico.md; web/data/intervenciones.json; reports/modulo_intervenciones_v1.md</a:t>
            </a:r>
          </a:p>
          <a:p xmlns:a="http://schemas.openxmlformats.org/drawingml/2006/main">
            <a:r>
              <a:t>La plataforma apoya la preparación de la inspección y no sustituye estudios técnicos, diseños, permisos ni decisiones institucionales.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0485fa2c947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2c77cb1e947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857b107ce4b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939862a6f4f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7afb2f06a49a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ea8dee61ed4d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7DA7AC-8116-4CF4-BAE0-E0757B0235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2C6FF4-418D-4AA8-A3D4-A71A2F637B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5B926F-CA09-4392-B619-5EBEFDB8BD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9CB898-8041-4A20-8944-11399AD8C3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2E1F5B8-F29B-4059-B88C-C7E6332016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6486CF-61DD-44B2-B1D7-C444A75883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F165FD-5996-4157-B7B3-0ACA66C47C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B4DB2DA-2E98-4E1F-A821-4BD2CBBDDB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0F2DCA-9E75-4CA7-A7C4-3A417710CD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8AEFE5-DC1D-4473-BFD2-6E5233E46E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27ed4c47d94c25" /><Relationship Type="http://schemas.openxmlformats.org/officeDocument/2006/relationships/slideLayout" Target="/ppt/slideLayouts/slideLayout1.xml" Id="Ra606a1f56c0242e9" /><Relationship Type="http://schemas.openxmlformats.org/officeDocument/2006/relationships/slideLayout" Target="/ppt/slideLayouts/slideLayout2.xml" Id="R9e42b31587ca4dee" /><Relationship Type="http://schemas.openxmlformats.org/officeDocument/2006/relationships/slideLayout" Target="/ppt/slideLayouts/slideLayout3.xml" Id="Rb663dde885e64a81" /><Relationship Type="http://schemas.openxmlformats.org/officeDocument/2006/relationships/slideLayout" Target="/ppt/slideLayouts/slideLayout4.xml" Id="R45ea117468dc4722" /><Relationship Type="http://schemas.openxmlformats.org/officeDocument/2006/relationships/slideLayout" Target="/ppt/slideLayouts/slideLayout5.xml" Id="Rb354a17656164f5c" /><Relationship Type="http://schemas.openxmlformats.org/officeDocument/2006/relationships/slideLayout" Target="/ppt/slideLayouts/slideLayout6.xml" Id="Rc48dd8e4368944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06a1f56c0242e9"/>
    <p:sldLayoutId xmlns:r="http://schemas.openxmlformats.org/officeDocument/2006/relationships" id="2147483650" r:id="R9e42b31587ca4dee"/>
    <p:sldLayoutId xmlns:r="http://schemas.openxmlformats.org/officeDocument/2006/relationships" id="2147483651" r:id="Rb663dde885e64a81"/>
    <p:sldLayoutId xmlns:r="http://schemas.openxmlformats.org/officeDocument/2006/relationships" id="2147483652" r:id="R45ea117468dc4722"/>
    <p:sldLayoutId xmlns:r="http://schemas.openxmlformats.org/officeDocument/2006/relationships" id="2147483653" r:id="Rb354a17656164f5c"/>
    <p:sldLayoutId xmlns:r="http://schemas.openxmlformats.org/officeDocument/2006/relationships" id="2147483654" r:id="Rc48dd8e4368944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c345d2ef414503" /><Relationship Type="http://schemas.openxmlformats.org/officeDocument/2006/relationships/image" Target="/ppt/media/image.png" Id="R62b1c4aeb13d43c9" /><Relationship Type="http://schemas.openxmlformats.org/officeDocument/2006/relationships/notesSlide" Target="/ppt/notesSlides/notesSlide1.xml" Id="Rc770073a0b5c46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9b99e855894448" /><Relationship Type="http://schemas.openxmlformats.org/officeDocument/2006/relationships/image" Target="/ppt/media/image2.png" Id="R4f052661c8194299" /><Relationship Type="http://schemas.openxmlformats.org/officeDocument/2006/relationships/notesSlide" Target="/ppt/notesSlides/notesSlide2.xml" Id="R783630e0bd4c43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44ae28cc494f26" /><Relationship Type="http://schemas.openxmlformats.org/officeDocument/2006/relationships/notesSlide" Target="/ppt/notesSlides/notesSlide3.xml" Id="Rdb79053488d34f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03562523ae4986" /><Relationship Type="http://schemas.openxmlformats.org/officeDocument/2006/relationships/notesSlide" Target="/ppt/notesSlides/notesSlide4.xml" Id="Rb102f21a8eac4b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8c6362d3544da2" /><Relationship Type="http://schemas.openxmlformats.org/officeDocument/2006/relationships/notesSlide" Target="/ppt/notesSlides/notesSlide5.xml" Id="Ra1e764cd891c40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1abf3ef00d4826" /><Relationship Type="http://schemas.openxmlformats.org/officeDocument/2006/relationships/chart" Target="/ppt/slides/charts/chart1.xml" Id="Rfe043f05aedc4c01" /><Relationship Type="http://schemas.openxmlformats.org/officeDocument/2006/relationships/notesSlide" Target="/ppt/notesSlides/notesSlide6.xml" Id="R756cd543d69747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70ae03efd54580" /><Relationship Type="http://schemas.openxmlformats.org/officeDocument/2006/relationships/image" Target="/ppt/media/image3.png" Id="R5d1e9219a2244b4c" /><Relationship Type="http://schemas.openxmlformats.org/officeDocument/2006/relationships/notesSlide" Target="/ppt/notesSlides/notesSlide7.xml" Id="R0847747d80b14e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8c016f09a041c2" /><Relationship Type="http://schemas.openxmlformats.org/officeDocument/2006/relationships/image" Target="/ppt/media/image4.png" Id="R621691eb2fe34756" /><Relationship Type="http://schemas.openxmlformats.org/officeDocument/2006/relationships/notesSlide" Target="/ppt/notesSlides/notesSlide8.xml" Id="R7216afa1af4b46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fd486d81e54f18" /><Relationship Type="http://schemas.openxmlformats.org/officeDocument/2006/relationships/notesSlide" Target="/ppt/notesSlides/notesSlide9.xml" Id="Ra5b83328dc5e46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7ca2a33c5d4c02" /><Relationship Type="http://schemas.openxmlformats.org/officeDocument/2006/relationships/notesSlide" Target="/ppt/notesSlides/notesSlide10.xml" Id="Rf6ae6653f309410a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Siniestros por año en Comuna 3 - Manrique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0F172A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Siniestros</c:v>
          </c:tx>
          <c:spPr>
            <a:solidFill xmlns:a="http://schemas.openxmlformats.org/drawingml/2006/main">
              <a:srgbClr val="2563EB"/>
            </a:solidFill>
          </c:spPr>
          <c:invertIfNegative val="0"/>
          <c:cat>
            <c:numLit>
              <c:formatCode>General</c:formatCode>
              <c:ptCount val="7"/>
              <c:pt idx="0">
                <c:v>2019</c:v>
              </c:pt>
              <c:pt idx="1">
                <c:v>2020</c:v>
              </c:pt>
              <c:pt idx="2">
                <c:v>2021</c:v>
              </c:pt>
              <c:pt idx="3">
                <c:v>2022</c:v>
              </c:pt>
              <c:pt idx="4">
                <c:v>2023</c:v>
              </c:pt>
              <c:pt idx="5">
                <c:v>2024</c:v>
              </c:pt>
              <c:pt idx="6">
                <c:v>2025</c:v>
              </c:pt>
            </c:numLit>
          </c:cat>
          <c:val>
            <c:numLit>
              <c:formatCode>General</c:formatCode>
              <c:ptCount val="7"/>
              <c:pt idx="0">
                <c:v>1524</c:v>
              </c:pt>
              <c:pt idx="1">
                <c:v>1142</c:v>
              </c:pt>
              <c:pt idx="2">
                <c:v>1413</c:v>
              </c:pt>
              <c:pt idx="3">
                <c:v>1317</c:v>
              </c:pt>
              <c:pt idx="4">
                <c:v>942</c:v>
              </c:pt>
              <c:pt idx="5">
                <c:v>849</c:v>
              </c:pt>
              <c:pt idx="6">
                <c:v>1145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0F172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58C64-8AA0-4D49-82CE-01E0B6851D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1c4aeb13d43c9"/>
          <a:srcRect xmlns:a="http://schemas.openxmlformats.org/drawingml/2006/main" l="12891" t="0" r="128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8050" y="0"/>
            <a:ext cx="4933950" cy="6858000"/>
          </a:xfrm>
          <a:prstGeom xmlns:a="http://schemas.openxmlformats.org/drawingml/2006/main" prst="roundRect">
            <a:avLst>
              <a:gd name="adj" fmla="val 231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F904B-9DB6-4F7F-A431-8CC97B8B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0"/>
            <a:ext cx="5191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08A20-B9C3-4291-9DA3-D5EBABB4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428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MOVIMANRIQUE45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88170-660C-4B4C-BE12-D23E6942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5638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Seguridad vial y accesibilidad en la Carrera 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E53F6-7826-4D8C-8B12-BDF422FF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DE9FB"/>
                </a:solidFill>
                <a:latin typeface="Arial"/>
                <a:ea typeface="Arial"/>
                <a:cs typeface="Arial"/>
              </a:rPr>
              <a:t>Comuna 3 - Manrique, Medellín</a:t>
            </a:r>
          </a:p>
          <a:p xmlns:a="http://schemas.openxmlformats.org/drawingml/2006/main">
            <a: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DE9FB"/>
                </a:solidFill>
                <a:latin typeface="Arial"/>
                <a:ea typeface="Arial"/>
                <a:cs typeface="Arial"/>
              </a:rPr>
              <a:t>Analítica territorial con trazabilidad geoespacial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E50FE-B04C-42CB-BD52-8EFAC98E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4B8A6"/>
                </a:solidFill>
                <a:latin typeface="Arial"/>
                <a:ea typeface="Arial"/>
                <a:cs typeface="Arial"/>
              </a:rPr>
              <a:t>Versión 2 | Intervenciones exploratorias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6AE66-7360-4990-BEA2-0AB08E82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DDE9F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DDE9FB"/>
                </a:solidFill>
                <a:latin typeface="Arial"/>
                <a:ea typeface="Arial"/>
                <a:cs typeface="Arial"/>
              </a:rPr>
              <a:t>Cierre validado: 8.332 siniestros | 604 IDs del corredor estricto</a:t>
            </a:r>
          </a:p>
        </p:txBody>
      </p:sp>
    </p:spTree>
    <p:extLst>
      <p:ext uri="{BB962C8B-B14F-4D97-AF65-F5344CB8AC3E}">
        <p14:creationId xmlns:p14="http://schemas.microsoft.com/office/powerpoint/2010/main" val="422713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EB25A-B42F-4927-A8F4-8DDEE0DE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MOVIMANRIQUE45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98F5C-9A11-45C3-9F1B-47AE4D83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Problema territorial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D08B8-3A95-4DAE-8770-79998F5D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El análisis delimita el corredor con geometría oficial y conserva sus casos de borde.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419D2-F08B-4ED9-9D25-96AC75F5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9D9FB-1DE4-4E39-AABE-2B343B8C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3524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Carrera 45 dentro de Manrique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D8D4E-C6D0-4EC0-BCB8-58F44D4B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La malla vial declaraba un CRS distinto a sus coordenadas reales. El proyecto corrigió esa interpretación solo en memoria.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El eje se recortó contra el límite oficial de Comuna 3 - Manrique y conserva 26 segmentos, 33 partes y seis fragmentos menores de un metro.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El corredor analítico de 50 m representa proximidad espacial. No demuestra causalidad ni atribuye un siniestro a la vía.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34C88-46AD-4FDF-822E-F80A757C52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52661c8194299"/>
          <a:stretch xmlns:a="http://schemas.openxmlformats.org/drawingml/2006/main"/>
        </p:blipFill>
        <p:spPr>
          <a:xfrm xmlns:a="http://schemas.openxmlformats.org/drawingml/2006/main">
            <a:off x="6333380" y="1695450"/>
            <a:ext cx="4059140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7C5FC-896E-4DA1-9E3C-EA850198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01980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Fuente: productos geoespaciales validados del proyecto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F0E0A-FDDB-41B2-AA01-EC9F89FF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93BE4-0B4D-431F-AB3C-F9B8C031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647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Comuna 3 - Manrique | Evidencia territorial reproducible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2E471-1234-467A-8ABF-1333EC7C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72250"/>
            <a:ext cx="447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200980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536E8A-C195-4505-B99B-0FBD9E9F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MOVIMANRIQUE45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E7594-7624-494F-A0C4-FF16C62D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Objetivos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25520-C987-4FF9-9EB1-4DBA8A52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Una plataforma local para revisar evidencia histórica antes de proponer actuaciones físicas.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F2892-08E8-4506-B185-80FC11F9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FE541-1E2C-4BDD-9BA0-79A5390B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6667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1F966-5CBA-447C-9D01-55B60B6A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52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A8FC8-E2A2-4256-BE5C-64970675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6702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Delimitación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13CB8-5937-4357-A436-306127FB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Definir la Carrera 45 dentro del territorio oficial de Manrique.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A63D0-4501-4361-B9E7-82AC8CC7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52650"/>
            <a:ext cx="6667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3B621-02C2-4C14-918E-CA1F117C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66950"/>
            <a:ext cx="52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F65AD-8E80-45C3-8087-6DED385E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6702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Trazabilidad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23525-A766-4409-A592-EA9CBFEB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4671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Mantener categorías exclusivas, IDs congelados, hashes y pruebas reproducibles.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A104F-7410-4DF1-B05C-1BE88816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52650"/>
            <a:ext cx="6667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7BCBB-9FDC-4721-BE92-E5B195D7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52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B7BD9-6584-4EDA-90E4-460F7302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6702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Exploración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744CD-95ED-4C3D-8341-56E28BA5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671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Permitir filtros, geovisor y fichas de zonas sin convertirlas en decisiones de obra.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89797-15BE-4CB0-9D8B-E763FA7D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Alcance actual: analítica descriptiva y geoespacial. Power BI nativo y aprendizaje automático predictivo permanecen fuera del cierre validado.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C4155-FBA9-4421-BDA6-946F5588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1D79F-C548-4B38-91EB-58E77C3C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647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Comuna 3 - Manrique | Evidencia territorial reproducible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72797-9148-4CFE-B978-42EB71B4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72250"/>
            <a:ext cx="447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769127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47FB1-FA44-45E2-86F3-CE1409CE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MOVIMANRIQUE45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1E614-15CE-45C4-BD47-F7B3FDAD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Fuentes de datos y trazabilidad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0D84F-AFE4-441C-B531-94555816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La vista web deriva de insumos validados y no altera los archivos RAW.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95D6A-FA96-4325-BF7C-F01B6753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22333-1A9F-4C54-B20F-92F50A60C745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7239000" cy="2705100"/>
        </p:xfrm>
        <a:graphic xmlns:a="http://schemas.openxmlformats.org/drawingml/2006/main">
          <a:graphicData uri="http://schemas.openxmlformats.org/drawingml/2006/table">
            <a:tbl>
              <a:tblPr firstRow="1" lastRow="0" bandRow="1"/>
              <a:tblGrid>
                <a:gridCol w="1905000"/>
                <a:gridCol w="2571750"/>
                <a:gridCol w="2762250"/>
              </a:tblGrid>
              <a:tr h="5410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Fuente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Uso en el proyecto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validado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Siniestros viales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Puntos y atributos de Comuna 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8.332 registros entre 2019 y 2025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Malla vial oficial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Eje definitivo de Carrera 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26 segmentos | 1.698,67 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Límite territorial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Recorte y control espacial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Comuna 3 - Manrique en EPSG:9377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Capas derivadas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Geovisor y zonas exploratorias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439 celdas | 12 zonas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94B8C-6D24-417E-9AF5-023AFB0E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33375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CCC26-2ECF-46B4-992A-F475A3D8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38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Cierre de categorías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19D42-1321-46DE-BC00-15B131D7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52725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604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68B9F-98A1-4800-A505-07F7B61D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corredor estricto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D40D9-3D93-4681-B3A6-B917ABBC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33750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E0177-E908-4599-A51D-700CC379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00425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sensibilidad de borde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F6767-D553-48C7-93C4-BD224968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14775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7741B9-9842-4D5D-93D1-E8570BE1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814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revisión territorial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309EB-5FD4-428E-B472-235FCACF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7684 registros restantes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EB1E1A-2B0C-443F-80B6-37CFE802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2006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Los 644 casos por proximidad geométrica simple no sustituyen los 604 IDs oficiales del cierre.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7729E-DD73-4DD3-8B2B-295FF32A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6C9BE-B1DA-4606-BAEA-4B7042A9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647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Comuna 3 - Manrique | Evidencia territorial reproducible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586E8D-236C-4C12-9462-714E5225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72250"/>
            <a:ext cx="447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37406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66F15C-B44F-432A-8E1C-90498044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MOVIMANRIQUE45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F1579-734F-4F3E-814B-930B2EBA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Metodología reproducible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E441F-C5A2-4E5E-A5AE-3E141741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El flujo conserva evidencia y reglas explícitas desde la ingesta hasta la exploración local.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C8AC3-5F45-44DA-A300-081DB1CC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FFA8E-6F9F-4A79-ABF6-CE27881D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F31E0-2DE6-485F-B426-AF2EE9C0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145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E83B9-B5E2-4E55-9ADF-B2EDC264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Ingesta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EA7C7-59ED-4890-89CB-BFCEC3C5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432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Fuentes oficiales y copia RAW.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E641B-47DA-4949-98C3-BD33EEE7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717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57240-9F7F-4F7A-86CA-9D1947C9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145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ED387-56C1-49EB-8482-D31DDB83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57500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Validación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51433-2420-4809-A708-85E14359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432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CRS, atributos y geometrías.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9D4E5-9FDA-4746-AF51-9826835E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5717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4E15E-4E6D-4D9E-B58D-DAD1F3EB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1145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EACE2-E6E1-4D6F-AE6A-937EE0DE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857500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Recorte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30A43-5849-46A3-A713-6125A349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3432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Eje y corredor dentro de Manrique.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1E1FB-5DEB-4C31-8A78-3B39BB44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717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8DA3A7-90E4-4910-99E7-5A394605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145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05BDEB-36FC-4974-8300-E481E0DB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57500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Clasificación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A33467-0F68-42A4-A855-7A964A2B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432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IDs exclusivos y casos de borde.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FB2CFC-8635-4CDF-9BE3-742A6352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5717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423DFF-0489-4F32-A72F-B1B47C9A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1145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10CAF6-1468-4111-BF02-3793059D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857500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Exploración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28D3A0-DD7E-4394-B6D8-1523459B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3432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Dashboard, geovisor y fichas.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6F0056-62E0-40C9-A923-A3CCBA06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Regla territorial: ninguna geometría final del corredor se extiende fuera de Comuna 3 - Manrique. Los gaps del eje no se rellenaron artificialmente.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1BC2B5-DDD8-4B4B-9F08-CCCA949D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54327D-9F2C-46FC-8347-9BC578D2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647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Comuna 3 - Manrique | Evidencia territorial reproducible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5BA497-8A1E-4DE8-A2C9-0AE5F68D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72250"/>
            <a:ext cx="447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415681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4AFDEB-30A2-4B76-9215-458855BA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MOVIMANRIQUE45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939D9-A77C-4424-9D28-B476FEB8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Resultados descriptivos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CECE0-B7D9-46F4-9CB3-26D91B3F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La serie anual y las métricas del cierre se mantienen separadas de cualquier inferencia de riesgo.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2BC40-3F9C-48E9-B151-B1C3AC95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9479B-3809-45C1-A3C1-18AF4A36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6953250" cy="40576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DBA8770-8D01-4DF6-9263-A0F7BCAD347C}"/>
              </a:ext>
            </a:extLst>
          </p:cNvPr>
          <p:cNvGraphicFramePr/>
          <p:nvPr/>
        </p:nvGraphicFramePr>
        <p:xfrm>
          <a:off xmlns:a="http://schemas.openxmlformats.org/drawingml/2006/main" x="857250" y="2028825"/>
          <a:ext xmlns:a="http://schemas.openxmlformats.org/drawingml/2006/main" cx="64770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043f05aedc4c0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4E9DA-5C80-4334-9CC7-7A770FDA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43075"/>
            <a:ext cx="3629025" cy="40576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CCD81-807B-4049-B3F3-D22C57D0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6692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Indicadores verificables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0683D-B70E-41E1-985A-AE5BFA4A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38425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8332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E172D-2D7D-4304-9624-B527F3AF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0510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siniestros analizados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27D44-7C5C-4DCF-89B5-4C016919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57550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604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DE2F0-D1E5-4B07-9E84-2832087C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324225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IDs del corredor estricto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9023F-8170-4B67-8C48-34DA9FB1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76675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439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2BD4C-6B08-4189-8398-01478835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9433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celdas de concentración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63665-6EAF-4B7B-9639-105DB98A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95800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B49D8-DB1E-4070-9482-66C13F04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562475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zonas exploratorias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4E742-75F6-4218-A81A-5D011291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C3CD24-EC18-4101-8419-3D0B0FEA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647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Comuna 3 - Manrique | Evidencia territorial reproducible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4CF36-51B5-486C-A759-C910A38D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72250"/>
            <a:ext cx="447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352879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20943-25E0-4783-9BE3-C22E12EB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MOVIMANRIQUE45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DA279-C457-43E3-AB1D-42654E8D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Dashboard web local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0CD42-C268-4E5E-86DA-DA3624FD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Una vista derivada del cierre permite filtrar, consultar indicadores y navegar las capas geográficas.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22780-3DBE-480E-9F9F-8549719E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62F48-D2A6-4FC2-AC7A-F334BF735B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e9219a2244b4c"/>
          <a:stretch xmlns:a="http://schemas.openxmlformats.org/drawingml/2006/main"/>
        </p:blipFill>
        <p:spPr>
          <a:xfrm xmlns:a="http://schemas.openxmlformats.org/drawingml/2006/main">
            <a:off x="609600" y="1796193"/>
            <a:ext cx="5495925" cy="3322764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4F4B1-0673-4DCE-93D3-CB94D065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533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Distribución de distancias usada como evidencia de apoyo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30EAA-B807-4387-8639-568B31F3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145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Funciones disponibles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B7FE8-0455-45A8-9D55-EFD39368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66975"/>
            <a:ext cx="4381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Filtros por año, barrio, clase, gravedad y categoría de análisis.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Indicadores constantes de 8.332, 604, 40 y 4 registros.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Gráficas de evolución, gravedad y tipo de siniestro.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Geovisor con capas activables, desplazamiento, zoom y selección de zonas.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Módulo de intervenciones con estado inicial Pendiente de inspección.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D482F-18D3-456A-BCB1-0A3D79F5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La interfaz se sirve localmente y lee JSON derivados. No requiere PostgreSQL, internet ni Power BI para la demostración.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72E46-27AA-4933-AD56-41FD04DD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EF274-3277-474C-86ED-512264D9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647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Comuna 3 - Manrique | Evidencia territorial reproducible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E3355-83B6-4FBA-9650-8643170A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72250"/>
            <a:ext cx="447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58373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920AC-4999-4AD8-A5A8-891A8D26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MOVIMANRIQUE45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E4157-FE17-4280-8CDC-521B23D4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Geovisor y zonas exploratorias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EA3AB-233E-4A7F-AC6E-FE8E141B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El mapa conecta el eje, los registros históricos y las 12 celdas seleccionables para revisión territorial.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AFAB1-5724-4CB3-947B-33AE7086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B716A-016F-441F-AA8D-47AFCE97D1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691eb2fe34756"/>
          <a:stretch xmlns:a="http://schemas.openxmlformats.org/drawingml/2006/main"/>
        </p:blipFill>
        <p:spPr>
          <a:xfrm xmlns:a="http://schemas.openxmlformats.org/drawingml/2006/main">
            <a:off x="966788" y="1657350"/>
            <a:ext cx="4191000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73EFF-558F-4F78-A2E0-41459843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Vista de control geoespacial validada en QGIS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8A16E-02CC-4EC8-88BB-F9985B0F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3357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Lectura responsable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217C2-2EC4-4E9F-BA76-24103778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66975"/>
            <a:ext cx="5000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Cada zona expone su identificador, ubicación, siniestros históricos, tipos y gravedad disponibles.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Seleccionar una zona desde el mapa, el listado o la tabla abre la misma ficha y resalta su geometría.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El orden comparativo usa solo el recuento histórico de cada celda. No equivale a una tasa de riesgo ni a una prioridad institucional.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La inspección de campo debe verificar velocidades, cruces, visibilidad, accesibilidad y flujos peatonales.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AD2D6-99EE-4427-A199-5D9E2235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D33C1-BCA7-4DBE-A4FB-0C63AF39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647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Comuna 3 - Manrique | Evidencia territorial reproducible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1B084-2C10-4F08-9952-E1CADC46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72250"/>
            <a:ext cx="447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951816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1CC83-D9CB-4FCD-9960-11D8931D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MOVIMANRIQUE45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149C4-7409-4142-8A5A-ABFEB26C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Intervenciones propuestas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5B8CA-2E7A-448E-BB94-E17039D3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El módulo organiza evidencia histórica y medidas candidatas para inspección, sin asignar obras ni costos por zona.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2BE68-FCC3-4C42-B1AB-DE4989F7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9D72D-A3C6-4B32-96F3-C57307AB0934}"/>
              </a:ext>
            </a:extLst>
          </p:cNvPr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7620000" cy="2733675"/>
        </p:xfrm>
        <a:graphic xmlns:a="http://schemas.openxmlformats.org/drawingml/2006/main">
          <a:graphicData uri="http://schemas.openxmlformats.org/drawingml/2006/table">
            <a:tbl>
              <a:tblPr firstRow="1" lastRow="0" bandRow="1"/>
              <a:tblGrid>
                <a:gridCol w="762000"/>
                <a:gridCol w="1809750"/>
                <a:gridCol w="1143000"/>
                <a:gridCol w="1666875"/>
                <a:gridCol w="2238375"/>
              </a:tblGrid>
              <a:tr h="45561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Orden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Zona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Registros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Corredor estricto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Eje intersectado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4556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47175_22516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Sin intersección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4556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47177_22527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72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Sin intersección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4556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47174_22507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66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Sin intersección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4556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47173_22505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Sin intersección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4556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47175_22513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63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033"/>
                          </a:solidFill>
                          <a:latin typeface="Arial"/>
                          <a:ea typeface="Arial"/>
                          <a:cs typeface="Arial"/>
                        </a:rPr>
                        <a:t>Sin intersección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6D3C7-745C-49B4-96B4-1BD3BC5F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9072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Medidas candidatas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F8DDB-8D19-41AA-BDAD-18913D9C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19350"/>
            <a:ext cx="247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Pasos peatonales seguros, rampas y accesibilidad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Reductores y control de velocidad.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Señalización, visibilidad y protección peatonal.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7A510-F8E6-4078-B872-12A24AEE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862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Estado de las 12 fichas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B4A47-1995-4683-AEBE-A1EC9859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00550"/>
            <a:ext cx="2524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Pendiente de inspección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D6289-BDEF-469C-B7A8-FB6AB394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36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Los costos por zona requieren cantidades de obra, diseño y precios unitarios verificables.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EBD6D-50C2-4366-A78D-E4CC533B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639A8-C794-40E7-93DD-6CBB7B57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647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Comuna 3 - Manrique | Evidencia territorial reproducible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643F8-7956-45FF-B367-026461C6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572250"/>
            <a:ext cx="447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761016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5CF9D-2E33-4F51-A7B4-E9D0CE11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B7D29-08A0-468B-A6B3-F270B5FC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>
                <a:solidFill>
                  <a:srgbClr val="DDE9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DE9FB"/>
                </a:solidFill>
                <a:latin typeface="Arial"/>
                <a:ea typeface="Arial"/>
                <a:cs typeface="Arial"/>
              </a:rPr>
              <a:t>MoviManrique45 deja una base verificable para revisar la Carrera 45 dentro de la Comuna 3 - Manrique.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4BB6F-ACBA-4D25-831F-09F2AD4F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765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4641F-333D-4EB1-8803-1633548C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982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Datos íntegros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4B69A-A349-40C7-ADFC-C601DC55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982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DE9FB"/>
                </a:solidFill>
                <a:latin typeface="Arial"/>
                <a:ea typeface="Arial"/>
                <a:cs typeface="Arial"/>
              </a:rPr>
              <a:t>El cierre conserva 8.332 siniestros, 604 IDs oficiales y los casos de borde y revisión territorial.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05757-753B-4CA9-985E-DAC1A34C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52825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B31FA-6CE3-4045-B5F3-ACEF9072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Territorio delimitado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21C26-AC76-4E60-9769-3DD37EEF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861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DE9FB"/>
                </a:solidFill>
                <a:latin typeface="Arial"/>
                <a:ea typeface="Arial"/>
                <a:cs typeface="Arial"/>
              </a:rPr>
              <a:t>El eje definitivo conserva 26 segmentos dentro de Manrique sin rellenar gaps artificialmente.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BAA2E-D617-4409-A905-DF84B653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291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20A3D-A87A-4A8E-A982-496F7B1E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6247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Intervenciones responsables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97DD5-F3D8-4EB6-B462-ABFFB8C2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624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DDE9F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DE9FB"/>
                </a:solidFill>
                <a:latin typeface="Arial"/>
                <a:ea typeface="Arial"/>
                <a:cs typeface="Arial"/>
              </a:rPr>
              <a:t>Las 12 fichas muestran evidencia histórica y medidas candidatas, todas pendientes de inspección.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3EA14-19F8-4BF9-88CD-C11E08C0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Siguiente paso: inspección de campo y evaluación institucional antes de cualquier intervención física.</a:t>
            </a:r>
          </a:p>
        </p:txBody>
      </p:sp>
    </p:spTree>
    <p:extLst>
      <p:ext uri="{BB962C8B-B14F-4D97-AF65-F5344CB8AC3E}">
        <p14:creationId xmlns:p14="http://schemas.microsoft.com/office/powerpoint/2010/main" val="1629425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2026-10-17T02:52:10.3660000Z</dcterms:created>
  <dcterms:modified xsi:type="dcterms:W3CDTF">2026-10-17T02:52:10.3660000Z</dcterms:modified>
</coreProperties>
</file>